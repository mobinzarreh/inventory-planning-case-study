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Stockout</c:v>
                </c:pt>
              </c:strCache>
            </c:strRef>
          </c:tx>
          <c:spPr>
            <a:solidFill>
              <a:srgbClr val="D03B3B"/>
            </a:solidFill>
            <a:ln w="19050">
              <a:solidFill>
                <a:srgbClr val="FFFFFF"/>
              </a:solidFill>
            </a:ln>
          </c:spPr>
          <c:dLbls>
            <c:numFmt formatCode="[&lt;0.045]&quot;&quot;;0%" sourceLinked="0"/>
            <c:txPr>
              <a:bodyPr/>
              <a:lstStyle/>
              <a:p>
                <a:pPr>
                  <a:defRPr sz="1100">
                    <a:solidFill>
                      <a:srgbClr val="FFFFFF"/>
                    </a:solidFill>
                  </a:defRPr>
                </a:pPr>
              </a:p>
            </c:txPr>
            <c:dLblPos val="ctr"/>
            <c:showLegendKey val="0"/>
            <c:showVal val="1"/>
            <c:showCatName val="0"/>
            <c:showSerName val="0"/>
            <c:showPercent val="0"/>
            <c:showBubbleSize val="0"/>
            <c:showLeaderLines val="1"/>
          </c:dLbls>
          <c:cat>
            <c:strRef>
              <c:f>Sheet1!$A$2:$A$6</c:f>
              <c:strCache>
                <c:ptCount val="5"/>
                <c:pt idx="0">
                  <c:v>GDC · 97 pairs</c:v>
                </c:pt>
                <c:pt idx="1">
                  <c:v>PDC1 · 82 pairs</c:v>
                </c:pt>
                <c:pt idx="2">
                  <c:v>PDC2 · 89 pairs</c:v>
                </c:pt>
                <c:pt idx="3">
                  <c:v>PDC3 · 72 pairs</c:v>
                </c:pt>
                <c:pt idx="4">
                  <c:v>All sites · 340 pairs</c:v>
                </c:pt>
              </c:strCache>
            </c:strRef>
          </c:cat>
          <c:val>
            <c:numRef>
              <c:f>Sheet1!$B$2:$B$6</c:f>
              <c:numCache>
                <c:formatCode>General</c:formatCode>
                <c:ptCount val="5"/>
                <c:pt idx="0">
                  <c:v>0.05154639175257732</c:v>
                </c:pt>
                <c:pt idx="1">
                  <c:v>0.2073170731707317</c:v>
                </c:pt>
                <c:pt idx="2">
                  <c:v>0.1348314606741573</c:v>
                </c:pt>
                <c:pt idx="3">
                  <c:v>0.18055555555555555</c:v>
                </c:pt>
                <c:pt idx="4">
                  <c:v>0.13823529411764707</c:v>
                </c:pt>
              </c:numCache>
            </c:numRef>
          </c:val>
        </c:ser>
        <c:ser>
          <c:idx val="1"/>
          <c:order val="1"/>
          <c:tx>
            <c:strRef>
              <c:f>Sheet1!$C$1</c:f>
              <c:strCache>
                <c:ptCount val="1"/>
                <c:pt idx="0">
                  <c:v>Short</c:v>
                </c:pt>
              </c:strCache>
            </c:strRef>
          </c:tx>
          <c:spPr>
            <a:solidFill>
              <a:srgbClr val="EC835A"/>
            </a:solidFill>
            <a:ln w="19050">
              <a:solidFill>
                <a:srgbClr val="FFFFFF"/>
              </a:solidFill>
            </a:ln>
          </c:spPr>
          <c:dLbls>
            <c:numFmt formatCode="[&lt;0.045]&quot;&quot;;0%" sourceLinked="0"/>
            <c:txPr>
              <a:bodyPr/>
              <a:lstStyle/>
              <a:p>
                <a:pPr>
                  <a:defRPr sz="1100">
                    <a:solidFill>
                      <a:srgbClr val="FFFFFF"/>
                    </a:solidFill>
                  </a:defRPr>
                </a:pPr>
              </a:p>
            </c:txPr>
            <c:dLblPos val="ctr"/>
            <c:showLegendKey val="0"/>
            <c:showVal val="1"/>
            <c:showCatName val="0"/>
            <c:showSerName val="0"/>
            <c:showPercent val="0"/>
            <c:showBubbleSize val="0"/>
            <c:showLeaderLines val="1"/>
          </c:dLbls>
          <c:cat>
            <c:strRef>
              <c:f>Sheet1!$A$2:$A$6</c:f>
              <c:strCache>
                <c:ptCount val="5"/>
                <c:pt idx="0">
                  <c:v>GDC · 97 pairs</c:v>
                </c:pt>
                <c:pt idx="1">
                  <c:v>PDC1 · 82 pairs</c:v>
                </c:pt>
                <c:pt idx="2">
                  <c:v>PDC2 · 89 pairs</c:v>
                </c:pt>
                <c:pt idx="3">
                  <c:v>PDC3 · 72 pairs</c:v>
                </c:pt>
                <c:pt idx="4">
                  <c:v>All sites · 340 pairs</c:v>
                </c:pt>
              </c:strCache>
            </c:strRef>
          </c:cat>
          <c:val>
            <c:numRef>
              <c:f>Sheet1!$C$2:$C$6</c:f>
              <c:numCache>
                <c:formatCode>General</c:formatCode>
                <c:ptCount val="5"/>
                <c:pt idx="0">
                  <c:v>0.2268041237113402</c:v>
                </c:pt>
                <c:pt idx="1">
                  <c:v>0.25609756097560976</c:v>
                </c:pt>
                <c:pt idx="2">
                  <c:v>0.2696629213483146</c:v>
                </c:pt>
                <c:pt idx="3">
                  <c:v>0.2222222222222222</c:v>
                </c:pt>
                <c:pt idx="4">
                  <c:v>0.24411764705882352</c:v>
                </c:pt>
              </c:numCache>
            </c:numRef>
          </c:val>
        </c:ser>
        <c:ser>
          <c:idx val="2"/>
          <c:order val="2"/>
          <c:tx>
            <c:strRef>
              <c:f>Sheet1!$D$1</c:f>
              <c:strCache>
                <c:ptCount val="1"/>
                <c:pt idx="0">
                  <c:v>Healthy</c:v>
                </c:pt>
              </c:strCache>
            </c:strRef>
          </c:tx>
          <c:spPr>
            <a:solidFill>
              <a:srgbClr val="C3C2B7"/>
            </a:solidFill>
            <a:ln w="19050">
              <a:solidFill>
                <a:srgbClr val="FFFFFF"/>
              </a:solidFill>
            </a:ln>
          </c:spPr>
          <c:dLbls>
            <c:numFmt formatCode="[&lt;0.045]&quot;&quot;;0%" sourceLinked="0"/>
            <c:txPr>
              <a:bodyPr/>
              <a:lstStyle/>
              <a:p>
                <a:pPr>
                  <a:defRPr sz="1100">
                    <a:solidFill>
                      <a:srgbClr val="0B0B0B"/>
                    </a:solidFill>
                  </a:defRPr>
                </a:pPr>
              </a:p>
            </c:txPr>
            <c:dLblPos val="ctr"/>
            <c:showLegendKey val="0"/>
            <c:showVal val="1"/>
            <c:showCatName val="0"/>
            <c:showSerName val="0"/>
            <c:showPercent val="0"/>
            <c:showBubbleSize val="0"/>
            <c:showLeaderLines val="1"/>
          </c:dLbls>
          <c:cat>
            <c:strRef>
              <c:f>Sheet1!$A$2:$A$6</c:f>
              <c:strCache>
                <c:ptCount val="5"/>
                <c:pt idx="0">
                  <c:v>GDC · 97 pairs</c:v>
                </c:pt>
                <c:pt idx="1">
                  <c:v>PDC1 · 82 pairs</c:v>
                </c:pt>
                <c:pt idx="2">
                  <c:v>PDC2 · 89 pairs</c:v>
                </c:pt>
                <c:pt idx="3">
                  <c:v>PDC3 · 72 pairs</c:v>
                </c:pt>
                <c:pt idx="4">
                  <c:v>All sites · 340 pairs</c:v>
                </c:pt>
              </c:strCache>
            </c:strRef>
          </c:cat>
          <c:val>
            <c:numRef>
              <c:f>Sheet1!$D$2:$D$6</c:f>
              <c:numCache>
                <c:formatCode>General</c:formatCode>
                <c:ptCount val="5"/>
                <c:pt idx="0">
                  <c:v>0.422680412371134</c:v>
                </c:pt>
                <c:pt idx="1">
                  <c:v>0.23170731707317074</c:v>
                </c:pt>
                <c:pt idx="2">
                  <c:v>0.2808988764044944</c:v>
                </c:pt>
                <c:pt idx="3">
                  <c:v>0.4166666666666667</c:v>
                </c:pt>
                <c:pt idx="4">
                  <c:v>0.3382352941176471</c:v>
                </c:pt>
              </c:numCache>
            </c:numRef>
          </c:val>
        </c:ser>
        <c:ser>
          <c:idx val="3"/>
          <c:order val="3"/>
          <c:tx>
            <c:strRef>
              <c:f>Sheet1!$E$1</c:f>
              <c:strCache>
                <c:ptCount val="1"/>
                <c:pt idx="0">
                  <c:v>Excess</c:v>
                </c:pt>
              </c:strCache>
            </c:strRef>
          </c:tx>
          <c:spPr>
            <a:solidFill>
              <a:srgbClr val="2A78D6"/>
            </a:solidFill>
            <a:ln w="19050">
              <a:solidFill>
                <a:srgbClr val="FFFFFF"/>
              </a:solidFill>
            </a:ln>
          </c:spPr>
          <c:dLbls>
            <c:numFmt formatCode="[&lt;0.045]&quot;&quot;;0%" sourceLinked="0"/>
            <c:txPr>
              <a:bodyPr/>
              <a:lstStyle/>
              <a:p>
                <a:pPr>
                  <a:defRPr sz="1100">
                    <a:solidFill>
                      <a:srgbClr val="FFFFFF"/>
                    </a:solidFill>
                  </a:defRPr>
                </a:pPr>
              </a:p>
            </c:txPr>
            <c:dLblPos val="ctr"/>
            <c:showLegendKey val="0"/>
            <c:showVal val="1"/>
            <c:showCatName val="0"/>
            <c:showSerName val="0"/>
            <c:showPercent val="0"/>
            <c:showBubbleSize val="0"/>
            <c:showLeaderLines val="1"/>
          </c:dLbls>
          <c:cat>
            <c:strRef>
              <c:f>Sheet1!$A$2:$A$6</c:f>
              <c:strCache>
                <c:ptCount val="5"/>
                <c:pt idx="0">
                  <c:v>GDC · 97 pairs</c:v>
                </c:pt>
                <c:pt idx="1">
                  <c:v>PDC1 · 82 pairs</c:v>
                </c:pt>
                <c:pt idx="2">
                  <c:v>PDC2 · 89 pairs</c:v>
                </c:pt>
                <c:pt idx="3">
                  <c:v>PDC3 · 72 pairs</c:v>
                </c:pt>
                <c:pt idx="4">
                  <c:v>All sites · 340 pairs</c:v>
                </c:pt>
              </c:strCache>
            </c:strRef>
          </c:cat>
          <c:val>
            <c:numRef>
              <c:f>Sheet1!$E$2:$E$6</c:f>
              <c:numCache>
                <c:formatCode>General</c:formatCode>
                <c:ptCount val="5"/>
                <c:pt idx="0">
                  <c:v>0.20618556701030927</c:v>
                </c:pt>
                <c:pt idx="1">
                  <c:v>0.15853658536585366</c:v>
                </c:pt>
                <c:pt idx="2">
                  <c:v>0.19101123595505617</c:v>
                </c:pt>
                <c:pt idx="3">
                  <c:v>0.06944444444444445</c:v>
                </c:pt>
                <c:pt idx="4">
                  <c:v>0.16176470588235295</c:v>
                </c:pt>
              </c:numCache>
            </c:numRef>
          </c:val>
        </c:ser>
        <c:ser>
          <c:idx val="4"/>
          <c:order val="4"/>
          <c:tx>
            <c:strRef>
              <c:f>Sheet1!$F$1</c:f>
              <c:strCache>
                <c:ptCount val="1"/>
                <c:pt idx="0">
                  <c:v>No demand</c:v>
                </c:pt>
              </c:strCache>
            </c:strRef>
          </c:tx>
          <c:spPr>
            <a:solidFill>
              <a:srgbClr val="898781"/>
            </a:solidFill>
            <a:ln w="19050">
              <a:solidFill>
                <a:srgbClr val="FFFFFF"/>
              </a:solidFill>
            </a:ln>
          </c:spPr>
          <c:dLbls>
            <c:numFmt formatCode="[&lt;0.045]&quot;&quot;;0%" sourceLinked="0"/>
            <c:txPr>
              <a:bodyPr/>
              <a:lstStyle/>
              <a:p>
                <a:pPr>
                  <a:defRPr sz="1100">
                    <a:solidFill>
                      <a:srgbClr val="FFFFFF"/>
                    </a:solidFill>
                  </a:defRPr>
                </a:pPr>
              </a:p>
            </c:txPr>
            <c:dLblPos val="ctr"/>
            <c:showLegendKey val="0"/>
            <c:showVal val="1"/>
            <c:showCatName val="0"/>
            <c:showSerName val="0"/>
            <c:showPercent val="0"/>
            <c:showBubbleSize val="0"/>
            <c:showLeaderLines val="1"/>
          </c:dLbls>
          <c:cat>
            <c:strRef>
              <c:f>Sheet1!$A$2:$A$6</c:f>
              <c:strCache>
                <c:ptCount val="5"/>
                <c:pt idx="0">
                  <c:v>GDC · 97 pairs</c:v>
                </c:pt>
                <c:pt idx="1">
                  <c:v>PDC1 · 82 pairs</c:v>
                </c:pt>
                <c:pt idx="2">
                  <c:v>PDC2 · 89 pairs</c:v>
                </c:pt>
                <c:pt idx="3">
                  <c:v>PDC3 · 72 pairs</c:v>
                </c:pt>
                <c:pt idx="4">
                  <c:v>All sites · 340 pairs</c:v>
                </c:pt>
              </c:strCache>
            </c:strRef>
          </c:cat>
          <c:val>
            <c:numRef>
              <c:f>Sheet1!$F$2:$F$6</c:f>
              <c:numCache>
                <c:formatCode>General</c:formatCode>
                <c:ptCount val="5"/>
                <c:pt idx="0">
                  <c:v>0.09278350515463918</c:v>
                </c:pt>
                <c:pt idx="1">
                  <c:v>0.14634146341463414</c:v>
                </c:pt>
                <c:pt idx="2">
                  <c:v>0.12359550561797752</c:v>
                </c:pt>
                <c:pt idx="3">
                  <c:v>0.1111111111111111</c:v>
                </c:pt>
                <c:pt idx="4">
                  <c:v>0.11764705882352941</c:v>
                </c:pt>
              </c:numCache>
            </c:numRef>
          </c:val>
        </c:ser>
        <c:gapWidth val="45"/>
        <c:overlap val="100"/>
        <c:axId val="-2068027336"/>
        <c:axId val="-2113994440"/>
      </c:barChart>
      <c:catAx>
        <c:axId val="-2068027336"/>
        <c:scaling>
          <c:orientation val="maxMin"/>
        </c:scaling>
        <c:delete val="0"/>
        <c:axPos val="l"/>
        <c:majorTickMark val="none"/>
        <c:minorTickMark val="none"/>
        <c:tickLblPos val="nextTo"/>
        <c:spPr>
          <a:ln>
            <a:noFill/>
          </a:ln>
        </c:spPr>
        <c:crossAx val="-2113994440"/>
        <c:crosses val="autoZero"/>
        <c:auto val="1"/>
        <c:lblAlgn val="ctr"/>
        <c:lblOffset val="100"/>
        <c:noMultiLvlLbl val="0"/>
      </c:catAx>
      <c:valAx>
        <c:axId val="-2113994440"/>
        <c:scaling>
          <c:max val="1.0"/>
        </c:scaling>
        <c:delete/>
        <c:axPos val="b"/>
        <c:majorTickMark val="out"/>
        <c:minorTickMark val="none"/>
        <c:tickLblPos val="nextTo"/>
        <c:crossAx val="-2068027336"/>
        <c:crosses val="autoZero"/>
      </c:valAx>
    </c:plotArea>
    <c:dispBlanksAs val="gap"/>
  </c:chart>
  <c:txPr>
    <a:bodyPr/>
    <a:lstStyle/>
    <a:p>
      <a:pPr>
        <a:defRPr sz="1200">
          <a:solidFill>
            <a:srgbClr val="52514E"/>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Today</c:v>
                </c:pt>
              </c:strCache>
            </c:strRef>
          </c:tx>
          <c:spPr>
            <a:solidFill>
              <a:srgbClr val="898781"/>
            </a:solidFill>
            <a:ln w="19050">
              <a:solidFill>
                <a:srgbClr val="FFFFFF"/>
              </a:solidFill>
            </a:ln>
          </c:spPr>
          <c:dLbls>
            <c:numFmt formatCode="0" sourceLinked="0"/>
            <c:txPr>
              <a:bodyPr/>
              <a:lstStyle/>
              <a:p>
                <a:pPr>
                  <a:defRPr sz="1100">
                    <a:solidFill>
                      <a:srgbClr val="222222"/>
                    </a:solidFill>
                  </a:defRPr>
                </a:pPr>
              </a:p>
            </c:txPr>
            <c:dLblPos val="outEnd"/>
            <c:showLegendKey val="0"/>
            <c:showVal val="1"/>
            <c:showCatName val="0"/>
            <c:showSerName val="0"/>
            <c:showPercent val="0"/>
            <c:showBubbleSize val="0"/>
            <c:showLeaderLines val="1"/>
          </c:dLbls>
          <c:cat>
            <c:strRef>
              <c:f>Sheet1!$A$2:$A$5</c:f>
              <c:strCache>
                <c:ptCount val="4"/>
                <c:pt idx="0">
                  <c:v>GDC</c:v>
                </c:pt>
                <c:pt idx="1">
                  <c:v>PDC1</c:v>
                </c:pt>
                <c:pt idx="2">
                  <c:v>PDC2</c:v>
                </c:pt>
                <c:pt idx="3">
                  <c:v>PDC3</c:v>
                </c:pt>
              </c:strCache>
            </c:strRef>
          </c:cat>
          <c:val>
            <c:numRef>
              <c:f>Sheet1!$B$2:$B$5</c:f>
              <c:numCache>
                <c:formatCode>General</c:formatCode>
                <c:ptCount val="4"/>
                <c:pt idx="0">
                  <c:v>5</c:v>
                </c:pt>
                <c:pt idx="1">
                  <c:v>17</c:v>
                </c:pt>
                <c:pt idx="2">
                  <c:v>12</c:v>
                </c:pt>
                <c:pt idx="3">
                  <c:v>13</c:v>
                </c:pt>
              </c:numCache>
            </c:numRef>
          </c:val>
        </c:ser>
        <c:ser>
          <c:idx val="1"/>
          <c:order val="1"/>
          <c:tx>
            <c:strRef>
              <c:f>Sheet1!$C$1</c:f>
              <c:strCache>
                <c:ptCount val="1"/>
                <c:pt idx="0">
                  <c:v>Jan 31</c:v>
                </c:pt>
              </c:strCache>
            </c:strRef>
          </c:tx>
          <c:spPr>
            <a:solidFill>
              <a:srgbClr val="D03B3B"/>
            </a:solidFill>
            <a:ln w="19050">
              <a:solidFill>
                <a:srgbClr val="FFFFFF"/>
              </a:solidFill>
            </a:ln>
          </c:spPr>
          <c:dLbls>
            <c:numFmt formatCode="0" sourceLinked="0"/>
            <c:txPr>
              <a:bodyPr/>
              <a:lstStyle/>
              <a:p>
                <a:pPr>
                  <a:defRPr sz="1100">
                    <a:solidFill>
                      <a:srgbClr val="222222"/>
                    </a:solidFill>
                  </a:defRPr>
                </a:pPr>
              </a:p>
            </c:txPr>
            <c:dLblPos val="outEnd"/>
            <c:showLegendKey val="0"/>
            <c:showVal val="1"/>
            <c:showCatName val="0"/>
            <c:showSerName val="0"/>
            <c:showPercent val="0"/>
            <c:showBubbleSize val="0"/>
            <c:showLeaderLines val="1"/>
          </c:dLbls>
          <c:cat>
            <c:strRef>
              <c:f>Sheet1!$A$2:$A$5</c:f>
              <c:strCache>
                <c:ptCount val="4"/>
                <c:pt idx="0">
                  <c:v>GDC</c:v>
                </c:pt>
                <c:pt idx="1">
                  <c:v>PDC1</c:v>
                </c:pt>
                <c:pt idx="2">
                  <c:v>PDC2</c:v>
                </c:pt>
                <c:pt idx="3">
                  <c:v>PDC3</c:v>
                </c:pt>
              </c:strCache>
            </c:strRef>
          </c:cat>
          <c:val>
            <c:numRef>
              <c:f>Sheet1!$C$2:$C$5</c:f>
              <c:numCache>
                <c:formatCode>General</c:formatCode>
                <c:ptCount val="4"/>
                <c:pt idx="0">
                  <c:v>52</c:v>
                </c:pt>
                <c:pt idx="1">
                  <c:v>19</c:v>
                </c:pt>
                <c:pt idx="2">
                  <c:v>20</c:v>
                </c:pt>
                <c:pt idx="3">
                  <c:v>23</c:v>
                </c:pt>
              </c:numCache>
            </c:numRef>
          </c:val>
        </c:ser>
        <c:gapWidth val="45"/>
        <c:overlap val="-10"/>
        <c:axId val="-2068027336"/>
        <c:axId val="-2113994440"/>
      </c:barChart>
      <c:catAx>
        <c:axId val="-2068027336"/>
        <c:scaling>
          <c:orientation val="maxMin"/>
        </c:scaling>
        <c:delete val="0"/>
        <c:axPos val="l"/>
        <c:majorTickMark val="none"/>
        <c:minorTickMark val="none"/>
        <c:tickLblPos val="nextTo"/>
        <c:spPr>
          <a:ln>
            <a:noFill/>
          </a:ln>
        </c:sp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legend>
      <c:legendPos val="t"/>
      <c:overlay val="0"/>
      <c:txPr>
        <a:bodyPr/>
        <a:lstStyle/>
        <a:p>
          <a:pPr>
            <a:defRPr sz="1100"/>
          </a:pPr>
        </a:p>
      </c:txPr>
    </c:legend>
    <c:dispBlanksAs val="gap"/>
  </c:chart>
  <c:txPr>
    <a:bodyPr/>
    <a:lstStyle/>
    <a:p>
      <a:pPr>
        <a:defRPr sz="1200">
          <a:solidFill>
            <a:srgbClr val="52514E"/>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Excess, above the 26-week line</c:v>
                </c:pt>
              </c:strCache>
            </c:strRef>
          </c:tx>
          <c:spPr>
            <a:solidFill>
              <a:srgbClr val="2A78D6"/>
            </a:solidFill>
            <a:ln w="19050">
              <a:solidFill>
                <a:srgbClr val="FFFFFF"/>
              </a:solidFill>
            </a:ln>
          </c:spPr>
          <c:dLbls>
            <c:numFmt formatCode="[&lt;45]&quot;&quot;;#,##0" sourceLinked="0"/>
            <c:txPr>
              <a:bodyPr/>
              <a:lstStyle/>
              <a:p>
                <a:pPr>
                  <a:defRPr sz="1100">
                    <a:solidFill>
                      <a:srgbClr val="FFFFFF"/>
                    </a:solidFill>
                  </a:defRPr>
                </a:pPr>
              </a:p>
            </c:txPr>
            <c:dLblPos val="ctr"/>
            <c:showLegendKey val="0"/>
            <c:showVal val="1"/>
            <c:showCatName val="0"/>
            <c:showSerName val="0"/>
            <c:showPercent val="0"/>
            <c:showBubbleSize val="0"/>
            <c:showLeaderLines val="1"/>
          </c:dLbls>
          <c:cat>
            <c:strRef>
              <c:f>Sheet1!$A$2:$A$5</c:f>
              <c:strCache>
                <c:ptCount val="4"/>
                <c:pt idx="0">
                  <c:v>GDC · 1,000</c:v>
                </c:pt>
                <c:pt idx="1">
                  <c:v>PDC1 · 179</c:v>
                </c:pt>
                <c:pt idx="2">
                  <c:v>PDC2 · 420</c:v>
                </c:pt>
                <c:pt idx="3">
                  <c:v>PDC3 · 227</c:v>
                </c:pt>
              </c:strCache>
            </c:strRef>
          </c:cat>
          <c:val>
            <c:numRef>
              <c:f>Sheet1!$B$2:$B$5</c:f>
              <c:numCache>
                <c:formatCode>General</c:formatCode>
                <c:ptCount val="4"/>
                <c:pt idx="0">
                  <c:v>862.46</c:v>
                </c:pt>
                <c:pt idx="1">
                  <c:v>62.099999999999994</c:v>
                </c:pt>
                <c:pt idx="2">
                  <c:v>225.66</c:v>
                </c:pt>
                <c:pt idx="3">
                  <c:v>17.71</c:v>
                </c:pt>
              </c:numCache>
            </c:numRef>
          </c:val>
        </c:ser>
        <c:ser>
          <c:idx val="1"/>
          <c:order val="1"/>
          <c:tx>
            <c:strRef>
              <c:f>Sheet1!$C$1</c:f>
              <c:strCache>
                <c:ptCount val="1"/>
                <c:pt idx="0">
                  <c:v>No demand: dead stock</c:v>
                </c:pt>
              </c:strCache>
            </c:strRef>
          </c:tx>
          <c:spPr>
            <a:solidFill>
              <a:srgbClr val="898781"/>
            </a:solidFill>
            <a:ln w="19050">
              <a:solidFill>
                <a:srgbClr val="FFFFFF"/>
              </a:solidFill>
            </a:ln>
          </c:spPr>
          <c:dLbls>
            <c:numFmt formatCode="[&lt;45]&quot;&quot;;#,##0" sourceLinked="0"/>
            <c:txPr>
              <a:bodyPr/>
              <a:lstStyle/>
              <a:p>
                <a:pPr>
                  <a:defRPr sz="1100">
                    <a:solidFill>
                      <a:srgbClr val="FFFFFF"/>
                    </a:solidFill>
                  </a:defRPr>
                </a:pPr>
              </a:p>
            </c:txPr>
            <c:dLblPos val="ctr"/>
            <c:showLegendKey val="0"/>
            <c:showVal val="1"/>
            <c:showCatName val="0"/>
            <c:showSerName val="0"/>
            <c:showPercent val="0"/>
            <c:showBubbleSize val="0"/>
            <c:showLeaderLines val="1"/>
          </c:dLbls>
          <c:cat>
            <c:strRef>
              <c:f>Sheet1!$A$2:$A$5</c:f>
              <c:strCache>
                <c:ptCount val="4"/>
                <c:pt idx="0">
                  <c:v>GDC · 1,000</c:v>
                </c:pt>
                <c:pt idx="1">
                  <c:v>PDC1 · 179</c:v>
                </c:pt>
                <c:pt idx="2">
                  <c:v>PDC2 · 420</c:v>
                </c:pt>
                <c:pt idx="3">
                  <c:v>PDC3 · 227</c:v>
                </c:pt>
              </c:strCache>
            </c:strRef>
          </c:cat>
          <c:val>
            <c:numRef>
              <c:f>Sheet1!$C$2:$C$5</c:f>
              <c:numCache>
                <c:formatCode>General</c:formatCode>
                <c:ptCount val="4"/>
                <c:pt idx="0">
                  <c:v>137.69</c:v>
                </c:pt>
                <c:pt idx="1">
                  <c:v>86.33</c:v>
                </c:pt>
                <c:pt idx="2">
                  <c:v>126.78999999999999</c:v>
                </c:pt>
                <c:pt idx="3">
                  <c:v>122.3</c:v>
                </c:pt>
              </c:numCache>
            </c:numRef>
          </c:val>
        </c:ser>
        <c:ser>
          <c:idx val="2"/>
          <c:order val="2"/>
          <c:tx>
            <c:strRef>
              <c:f>Sheet1!$D$1</c:f>
              <c:strCache>
                <c:ptCount val="1"/>
                <c:pt idx="0">
                  <c:v>No demand: wanted at another site</c:v>
                </c:pt>
              </c:strCache>
            </c:strRef>
          </c:tx>
          <c:spPr>
            <a:solidFill>
              <a:srgbClr val="FFFFFF"/>
            </a:solidFill>
            <a:ln w="19050">
              <a:solidFill>
                <a:srgbClr val="898781"/>
              </a:solidFill>
            </a:ln>
          </c:spPr>
          <c:dLbls>
            <c:numFmt formatCode="[&lt;45]&quot;&quot;;#,##0" sourceLinked="0"/>
            <c:txPr>
              <a:bodyPr/>
              <a:lstStyle/>
              <a:p>
                <a:pPr>
                  <a:defRPr sz="1100">
                    <a:solidFill>
                      <a:srgbClr val="222222"/>
                    </a:solidFill>
                  </a:defRPr>
                </a:pPr>
              </a:p>
            </c:txPr>
            <c:dLblPos val="ctr"/>
            <c:showLegendKey val="0"/>
            <c:showVal val="1"/>
            <c:showCatName val="0"/>
            <c:showSerName val="0"/>
            <c:showPercent val="0"/>
            <c:showBubbleSize val="0"/>
            <c:showLeaderLines val="1"/>
          </c:dLbls>
          <c:cat>
            <c:strRef>
              <c:f>Sheet1!$A$2:$A$5</c:f>
              <c:strCache>
                <c:ptCount val="4"/>
                <c:pt idx="0">
                  <c:v>GDC · 1,000</c:v>
                </c:pt>
                <c:pt idx="1">
                  <c:v>PDC1 · 179</c:v>
                </c:pt>
                <c:pt idx="2">
                  <c:v>PDC2 · 420</c:v>
                </c:pt>
                <c:pt idx="3">
                  <c:v>PDC3 · 227</c:v>
                </c:pt>
              </c:strCache>
            </c:strRef>
          </c:cat>
          <c:val>
            <c:numRef>
              <c:f>Sheet1!$D$2:$D$5</c:f>
              <c:numCache>
                <c:formatCode>General</c:formatCode>
                <c:ptCount val="4"/>
                <c:pt idx="1">
                  <c:v>30.7</c:v>
                </c:pt>
                <c:pt idx="2">
                  <c:v>67.56</c:v>
                </c:pt>
                <c:pt idx="3">
                  <c:v>87.02</c:v>
                </c:pt>
              </c:numCache>
            </c:numRef>
          </c:val>
        </c:ser>
        <c:gapWidth val="45"/>
        <c:overlap val="100"/>
        <c:axId val="-2068027336"/>
        <c:axId val="-2113994440"/>
      </c:barChart>
      <c:catAx>
        <c:axId val="-2068027336"/>
        <c:scaling>
          <c:orientation val="maxMin"/>
        </c:scaling>
        <c:delete val="0"/>
        <c:axPos val="l"/>
        <c:majorTickMark val="none"/>
        <c:minorTickMark val="none"/>
        <c:tickLblPos val="nextTo"/>
        <c:spPr>
          <a:ln>
            <a:noFill/>
          </a:ln>
        </c:sp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legend>
      <c:legendPos val="t"/>
      <c:overlay val="0"/>
      <c:txPr>
        <a:bodyPr/>
        <a:lstStyle/>
        <a:p>
          <a:pPr>
            <a:defRPr sz="1100"/>
          </a:pPr>
        </a:p>
      </c:txPr>
    </c:legend>
    <c:dispBlanksAs val="gap"/>
  </c:chart>
  <c:txPr>
    <a:bodyPr/>
    <a:lstStyle/>
    <a:p>
      <a:pPr>
        <a:defRPr sz="1200">
          <a:solidFill>
            <a:srgbClr val="52514E"/>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part at each site is one pair, 340 in all. WOS divides today's stock by the average weekly demand over Nov to Jan, the demand this stock will actually meet. The GDC's demand includes the restock it ships to the PDCs, because that leaves its shelf just like a sale. Short is under 4 weeks, about one restock cycle. Excess is over 26 weeks. I report a status mix per site instead of one WOS number, because an average hides shortages behind excess. Details: ASSUMPTIONS.md 5.2 to 5.4.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projection runs day by day to Jan 31. Customers buy every day, POs land on their ETA, and planned restock leaves the GDC on the 1st of each month, but only if the GDC has the stock. That last rule is why the GDC jumps: it keeps shipping to the PDCs and runs dry. The data has no order dates, so the projection assumes no new order lands before Jan 31. Details: ASSUMPTIONS.md 5.5.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come straight from the action columns in the workbook: gdc_shortfalls, supply_review_lines and stock_moves. The first is the biggest risk, because nothing is on the way. The data has no lead times, and open supply lands up to 12 weeks out, so orders placed now may not land before Jan 31. That makes the moves and expedites the fastest fixes. SKU98 is the worked example in the dashboard.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Pallet equivalents put bolts and windshields on one scale of space: pieces divided by pieces per pallet, part by part. Excess counts only the stock above the 26-week line, not the whole pair. Dead stock has no demand anywhere in the network for 24 months. SKU901 and SKU902 aren't called dead stock, because they may be typos of known parts. Details: ASSUMPTIONS.md 4.10, 5.3 to 5.5.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odd value in the raw files has a flag, with what it might mean, in the flags sheet of the workbook. These four move the numbers most. Nothing was dropped or changed silently: only exact copies were dropped, and look-alike PO lines are all kept until the buyer confirms. Details: ASSUMPTIONS.md sections 3 and 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chart" Target="../charts/chart1.xml"/><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xml"/><Relationship Id="rId4" Type="http://schemas.openxmlformats.org/officeDocument/2006/relationships/chart" Target="../charts/chart2.xml"/><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4.xml"/><Relationship Id="rId4" Type="http://schemas.openxmlformats.org/officeDocument/2006/relationships/chart" Target="../charts/chart3.xml"/><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5.xml"/><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 Id="rId9" Type="http://schemas.openxmlformats.org/officeDocument/2006/relationships/hyperlink" Target="https://inventory-planning-case-study-a3gaqkykrzjhyq5mqi875s.streamlit.app/" TargetMode="External"/><Relationship Id="rId10" Type="http://schemas.openxmlformats.org/officeDocument/2006/relationships/image" Target="../media/image21.png"/><Relationship Id="rId11" Type="http://schemas.openxmlformats.org/officeDocument/2006/relationships/hyperlink" Target="https://github.com/Mobinzarreh/inventory-planning-case-study" TargetMode="External"/><Relationship Id="rId12" Type="http://schemas.openxmlformats.org/officeDocument/2006/relationships/image" Target="../media/image2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ounded Rectangle 1"/>
          <p:cNvSpPr/>
          <p:nvPr/>
        </p:nvSpPr>
        <p:spPr>
          <a:xfrm>
            <a:off x="457200" y="365760"/>
            <a:ext cx="11277295" cy="1371600"/>
          </a:xfrm>
          <a:prstGeom prst="roundRect">
            <a:avLst>
              <a:gd name="adj" fmla="val 12000"/>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658368"/>
            <a:ext cx="603504" cy="603504"/>
          </a:xfrm>
          <a:prstGeom prst="roundRect">
            <a:avLst>
              <a:gd name="adj" fmla="val 28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852220" y="779068"/>
            <a:ext cx="362102" cy="362102"/>
          </a:xfrm>
          <a:prstGeom prst="rect">
            <a:avLst/>
          </a:prstGeom>
        </p:spPr>
      </p:pic>
      <p:sp>
        <p:nvSpPr>
          <p:cNvPr id="5" name="Rounded Rectangle 4"/>
          <p:cNvSpPr/>
          <p:nvPr/>
        </p:nvSpPr>
        <p:spPr>
          <a:xfrm>
            <a:off x="1554480" y="566928"/>
            <a:ext cx="2061972" cy="246888"/>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Arial"/>
              </a:rPr>
              <a:t>TODAY · OCT 22 SNAPSHOT</a:t>
            </a:r>
          </a:p>
        </p:txBody>
      </p:sp>
      <p:sp>
        <p:nvSpPr>
          <p:cNvPr id="6" name="TextBox 5"/>
          <p:cNvSpPr txBox="1"/>
          <p:nvPr/>
        </p:nvSpPr>
        <p:spPr>
          <a:xfrm>
            <a:off x="1554480" y="896112"/>
            <a:ext cx="9905695" cy="713232"/>
          </a:xfrm>
          <a:prstGeom prst="rect">
            <a:avLst/>
          </a:prstGeom>
          <a:noFill/>
        </p:spPr>
        <p:txBody>
          <a:bodyPr wrap="square" anchor="ctr" lIns="0" rIns="0" tIns="0" bIns="0">
            <a:spAutoFit/>
          </a:bodyPr>
          <a:lstStyle/>
          <a:p>
            <a:pPr algn="l">
              <a:spcAft>
                <a:spcPts val="0"/>
              </a:spcAft>
            </a:pPr>
            <a:r>
              <a:rPr sz="2200" b="1">
                <a:solidFill>
                  <a:srgbClr val="FFFFFF"/>
                </a:solidFill>
                <a:latin typeface="Arial"/>
              </a:rPr>
              <a:t>130 of 340 part and site pairs are out of stock or short today, and PDC1 is the most at risk (38 of 82, 46%)</a:t>
            </a:r>
          </a:p>
        </p:txBody>
      </p:sp>
      <p:sp>
        <p:nvSpPr>
          <p:cNvPr id="7" name="TextBox 6"/>
          <p:cNvSpPr txBox="1"/>
          <p:nvPr/>
        </p:nvSpPr>
        <p:spPr>
          <a:xfrm>
            <a:off x="457200" y="6400800"/>
            <a:ext cx="9144000" cy="228600"/>
          </a:xfrm>
          <a:prstGeom prst="rect">
            <a:avLst/>
          </a:prstGeom>
          <a:noFill/>
        </p:spPr>
        <p:txBody>
          <a:bodyPr wrap="square" anchor="t" lIns="0" rIns="0" tIns="0" bIns="0">
            <a:spAutoFit/>
          </a:bodyPr>
          <a:lstStyle/>
          <a:p>
            <a:pPr algn="l">
              <a:spcAft>
                <a:spcPts val="600"/>
              </a:spcAft>
            </a:pPr>
            <a:r>
              <a:rPr sz="1000" b="0">
                <a:solidFill>
                  <a:srgbClr val="808080"/>
                </a:solidFill>
                <a:latin typeface="Arial"/>
              </a:rPr>
              <a:t>Service parts inventory health check  ·  snapshot Oct 22, 2026  ·  projected to Jan 31, 2027</a:t>
            </a:r>
          </a:p>
        </p:txBody>
      </p:sp>
      <p:sp>
        <p:nvSpPr>
          <p:cNvPr id="8" name="TextBox 7"/>
          <p:cNvSpPr txBox="1"/>
          <p:nvPr/>
        </p:nvSpPr>
        <p:spPr>
          <a:xfrm>
            <a:off x="10820095" y="6400800"/>
            <a:ext cx="914400" cy="228600"/>
          </a:xfrm>
          <a:prstGeom prst="rect">
            <a:avLst/>
          </a:prstGeom>
          <a:noFill/>
        </p:spPr>
        <p:txBody>
          <a:bodyPr wrap="square" anchor="t" lIns="0" rIns="0" tIns="0" bIns="0">
            <a:spAutoFit/>
          </a:bodyPr>
          <a:lstStyle/>
          <a:p>
            <a:pPr algn="r">
              <a:spcAft>
                <a:spcPts val="600"/>
              </a:spcAft>
            </a:pPr>
            <a:r>
              <a:rPr sz="1000" b="0">
                <a:solidFill>
                  <a:srgbClr val="808080"/>
                </a:solidFill>
                <a:latin typeface="Arial"/>
              </a:rPr>
              <a:t>1</a:t>
            </a:r>
          </a:p>
        </p:txBody>
      </p:sp>
      <p:sp>
        <p:nvSpPr>
          <p:cNvPr id="9" name="Rounded Rectangle 8"/>
          <p:cNvSpPr/>
          <p:nvPr/>
        </p:nvSpPr>
        <p:spPr>
          <a:xfrm>
            <a:off x="457200" y="1965960"/>
            <a:ext cx="2123785" cy="1024128"/>
          </a:xfrm>
          <a:prstGeom prst="roundRect">
            <a:avLst>
              <a:gd name="adj" fmla="val 10714"/>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8368" y="2185415"/>
            <a:ext cx="155448" cy="155448"/>
          </a:xfrm>
          <a:prstGeom prst="roundRect">
            <a:avLst>
              <a:gd name="adj" fmla="val 23529"/>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121408"/>
            <a:ext cx="1575145" cy="274320"/>
          </a:xfrm>
          <a:prstGeom prst="rect">
            <a:avLst/>
          </a:prstGeom>
          <a:noFill/>
        </p:spPr>
        <p:txBody>
          <a:bodyPr wrap="square" anchor="t" lIns="0" rIns="0" tIns="0" bIns="0">
            <a:spAutoFit/>
          </a:bodyPr>
          <a:lstStyle/>
          <a:p>
            <a:pPr algn="l">
              <a:spcAft>
                <a:spcPts val="0"/>
              </a:spcAft>
            </a:pPr>
            <a:r>
              <a:rPr sz="1300" b="1">
                <a:solidFill>
                  <a:srgbClr val="222222"/>
                </a:solidFill>
                <a:latin typeface="Arial"/>
              </a:rPr>
              <a:t>Stockout</a:t>
            </a:r>
          </a:p>
        </p:txBody>
      </p:sp>
      <p:sp>
        <p:nvSpPr>
          <p:cNvPr id="12" name="TextBox 11"/>
          <p:cNvSpPr txBox="1"/>
          <p:nvPr/>
        </p:nvSpPr>
        <p:spPr>
          <a:xfrm>
            <a:off x="896112" y="2359152"/>
            <a:ext cx="1575145" cy="228600"/>
          </a:xfrm>
          <a:prstGeom prst="rect">
            <a:avLst/>
          </a:prstGeom>
          <a:noFill/>
        </p:spPr>
        <p:txBody>
          <a:bodyPr wrap="square" anchor="t" lIns="0" rIns="0" tIns="0" bIns="0">
            <a:spAutoFit/>
          </a:bodyPr>
          <a:lstStyle/>
          <a:p>
            <a:pPr algn="l">
              <a:spcAft>
                <a:spcPts val="0"/>
              </a:spcAft>
            </a:pPr>
            <a:r>
              <a:rPr sz="1100" b="0">
                <a:solidFill>
                  <a:srgbClr val="52514E"/>
                </a:solidFill>
                <a:latin typeface="Arial"/>
              </a:rPr>
              <a:t>no stock</a:t>
            </a:r>
          </a:p>
        </p:txBody>
      </p:sp>
      <p:sp>
        <p:nvSpPr>
          <p:cNvPr id="13" name="TextBox 12"/>
          <p:cNvSpPr txBox="1"/>
          <p:nvPr/>
        </p:nvSpPr>
        <p:spPr>
          <a:xfrm>
            <a:off x="658368" y="2569464"/>
            <a:ext cx="1803745" cy="384048"/>
          </a:xfrm>
          <a:prstGeom prst="rect">
            <a:avLst/>
          </a:prstGeom>
          <a:noFill/>
        </p:spPr>
        <p:txBody>
          <a:bodyPr wrap="square" anchor="t" lIns="0" rIns="0" tIns="0" bIns="0">
            <a:spAutoFit/>
          </a:bodyPr>
          <a:lstStyle/>
          <a:p>
            <a:pPr algn="l">
              <a:spcAft>
                <a:spcPts val="0"/>
              </a:spcAft>
            </a:pPr>
            <a:r>
              <a:rPr sz="1400" b="0">
                <a:solidFill>
                  <a:srgbClr val="222222"/>
                </a:solidFill>
                <a:latin typeface="Arial"/>
              </a:rPr>
              <a:t/>
            </a:r>
            <a:r>
              <a:rPr sz="2200" b="1">
                <a:solidFill>
                  <a:srgbClr val="222222"/>
                </a:solidFill>
                <a:latin typeface="Arial"/>
              </a:rPr>
              <a:t>47</a:t>
            </a:r>
            <a:r>
              <a:rPr sz="1200" b="0">
                <a:solidFill>
                  <a:srgbClr val="52514E"/>
                </a:solidFill>
                <a:latin typeface="Arial"/>
              </a:rPr>
              <a:t>  pairs · 14%</a:t>
            </a:r>
          </a:p>
        </p:txBody>
      </p:sp>
      <p:sp>
        <p:nvSpPr>
          <p:cNvPr id="14" name="Rounded Rectangle 13"/>
          <p:cNvSpPr/>
          <p:nvPr/>
        </p:nvSpPr>
        <p:spPr>
          <a:xfrm>
            <a:off x="2745577" y="1965960"/>
            <a:ext cx="2123785" cy="1024128"/>
          </a:xfrm>
          <a:prstGeom prst="roundRect">
            <a:avLst>
              <a:gd name="adj" fmla="val 10714"/>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946745" y="2185415"/>
            <a:ext cx="155448" cy="155448"/>
          </a:xfrm>
          <a:prstGeom prst="roundRect">
            <a:avLst>
              <a:gd name="adj" fmla="val 23529"/>
            </a:avLst>
          </a:prstGeom>
          <a:solidFill>
            <a:srgbClr val="EC83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184489" y="2121408"/>
            <a:ext cx="1575145" cy="274320"/>
          </a:xfrm>
          <a:prstGeom prst="rect">
            <a:avLst/>
          </a:prstGeom>
          <a:noFill/>
        </p:spPr>
        <p:txBody>
          <a:bodyPr wrap="square" anchor="t" lIns="0" rIns="0" tIns="0" bIns="0">
            <a:spAutoFit/>
          </a:bodyPr>
          <a:lstStyle/>
          <a:p>
            <a:pPr algn="l">
              <a:spcAft>
                <a:spcPts val="0"/>
              </a:spcAft>
            </a:pPr>
            <a:r>
              <a:rPr sz="1300" b="1">
                <a:solidFill>
                  <a:srgbClr val="222222"/>
                </a:solidFill>
                <a:latin typeface="Arial"/>
              </a:rPr>
              <a:t>Short</a:t>
            </a:r>
          </a:p>
        </p:txBody>
      </p:sp>
      <p:sp>
        <p:nvSpPr>
          <p:cNvPr id="17" name="TextBox 16"/>
          <p:cNvSpPr txBox="1"/>
          <p:nvPr/>
        </p:nvSpPr>
        <p:spPr>
          <a:xfrm>
            <a:off x="3184489" y="2359152"/>
            <a:ext cx="1575145" cy="228600"/>
          </a:xfrm>
          <a:prstGeom prst="rect">
            <a:avLst/>
          </a:prstGeom>
          <a:noFill/>
        </p:spPr>
        <p:txBody>
          <a:bodyPr wrap="square" anchor="t" lIns="0" rIns="0" tIns="0" bIns="0">
            <a:spAutoFit/>
          </a:bodyPr>
          <a:lstStyle/>
          <a:p>
            <a:pPr algn="l">
              <a:spcAft>
                <a:spcPts val="0"/>
              </a:spcAft>
            </a:pPr>
            <a:r>
              <a:rPr sz="1100" b="0">
                <a:solidFill>
                  <a:srgbClr val="52514E"/>
                </a:solidFill>
                <a:latin typeface="Arial"/>
              </a:rPr>
              <a:t>under 4 weeks</a:t>
            </a:r>
          </a:p>
        </p:txBody>
      </p:sp>
      <p:sp>
        <p:nvSpPr>
          <p:cNvPr id="18" name="TextBox 17"/>
          <p:cNvSpPr txBox="1"/>
          <p:nvPr/>
        </p:nvSpPr>
        <p:spPr>
          <a:xfrm>
            <a:off x="2946745" y="2569464"/>
            <a:ext cx="1803745" cy="384048"/>
          </a:xfrm>
          <a:prstGeom prst="rect">
            <a:avLst/>
          </a:prstGeom>
          <a:noFill/>
        </p:spPr>
        <p:txBody>
          <a:bodyPr wrap="square" anchor="t" lIns="0" rIns="0" tIns="0" bIns="0">
            <a:spAutoFit/>
          </a:bodyPr>
          <a:lstStyle/>
          <a:p>
            <a:pPr algn="l">
              <a:spcAft>
                <a:spcPts val="0"/>
              </a:spcAft>
            </a:pPr>
            <a:r>
              <a:rPr sz="1400" b="0">
                <a:solidFill>
                  <a:srgbClr val="222222"/>
                </a:solidFill>
                <a:latin typeface="Arial"/>
              </a:rPr>
              <a:t/>
            </a:r>
            <a:r>
              <a:rPr sz="2200" b="1">
                <a:solidFill>
                  <a:srgbClr val="222222"/>
                </a:solidFill>
                <a:latin typeface="Arial"/>
              </a:rPr>
              <a:t>83</a:t>
            </a:r>
            <a:r>
              <a:rPr sz="1200" b="0">
                <a:solidFill>
                  <a:srgbClr val="52514E"/>
                </a:solidFill>
                <a:latin typeface="Arial"/>
              </a:rPr>
              <a:t>  pairs · 24%</a:t>
            </a:r>
          </a:p>
        </p:txBody>
      </p:sp>
      <p:sp>
        <p:nvSpPr>
          <p:cNvPr id="19" name="Rounded Rectangle 18"/>
          <p:cNvSpPr/>
          <p:nvPr/>
        </p:nvSpPr>
        <p:spPr>
          <a:xfrm>
            <a:off x="5033954" y="1965960"/>
            <a:ext cx="2123785" cy="1024128"/>
          </a:xfrm>
          <a:prstGeom prst="roundRect">
            <a:avLst>
              <a:gd name="adj" fmla="val 10714"/>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235122" y="2185415"/>
            <a:ext cx="155448" cy="155448"/>
          </a:xfrm>
          <a:prstGeom prst="roundRect">
            <a:avLst>
              <a:gd name="adj" fmla="val 23529"/>
            </a:avLst>
          </a:prstGeom>
          <a:solidFill>
            <a:srgbClr val="C3C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72866" y="2121408"/>
            <a:ext cx="1575145" cy="274320"/>
          </a:xfrm>
          <a:prstGeom prst="rect">
            <a:avLst/>
          </a:prstGeom>
          <a:noFill/>
        </p:spPr>
        <p:txBody>
          <a:bodyPr wrap="square" anchor="t" lIns="0" rIns="0" tIns="0" bIns="0">
            <a:spAutoFit/>
          </a:bodyPr>
          <a:lstStyle/>
          <a:p>
            <a:pPr algn="l">
              <a:spcAft>
                <a:spcPts val="0"/>
              </a:spcAft>
            </a:pPr>
            <a:r>
              <a:rPr sz="1300" b="1">
                <a:solidFill>
                  <a:srgbClr val="222222"/>
                </a:solidFill>
                <a:latin typeface="Arial"/>
              </a:rPr>
              <a:t>Healthy</a:t>
            </a:r>
          </a:p>
        </p:txBody>
      </p:sp>
      <p:sp>
        <p:nvSpPr>
          <p:cNvPr id="22" name="TextBox 21"/>
          <p:cNvSpPr txBox="1"/>
          <p:nvPr/>
        </p:nvSpPr>
        <p:spPr>
          <a:xfrm>
            <a:off x="5472866" y="2359152"/>
            <a:ext cx="1575145" cy="228600"/>
          </a:xfrm>
          <a:prstGeom prst="rect">
            <a:avLst/>
          </a:prstGeom>
          <a:noFill/>
        </p:spPr>
        <p:txBody>
          <a:bodyPr wrap="square" anchor="t" lIns="0" rIns="0" tIns="0" bIns="0">
            <a:spAutoFit/>
          </a:bodyPr>
          <a:lstStyle/>
          <a:p>
            <a:pPr algn="l">
              <a:spcAft>
                <a:spcPts val="0"/>
              </a:spcAft>
            </a:pPr>
            <a:r>
              <a:rPr sz="1100" b="0">
                <a:solidFill>
                  <a:srgbClr val="52514E"/>
                </a:solidFill>
                <a:latin typeface="Arial"/>
              </a:rPr>
              <a:t>4 to 26 weeks</a:t>
            </a:r>
          </a:p>
        </p:txBody>
      </p:sp>
      <p:sp>
        <p:nvSpPr>
          <p:cNvPr id="23" name="TextBox 22"/>
          <p:cNvSpPr txBox="1"/>
          <p:nvPr/>
        </p:nvSpPr>
        <p:spPr>
          <a:xfrm>
            <a:off x="5235122" y="2569464"/>
            <a:ext cx="1803745" cy="384048"/>
          </a:xfrm>
          <a:prstGeom prst="rect">
            <a:avLst/>
          </a:prstGeom>
          <a:noFill/>
        </p:spPr>
        <p:txBody>
          <a:bodyPr wrap="square" anchor="t" lIns="0" rIns="0" tIns="0" bIns="0">
            <a:spAutoFit/>
          </a:bodyPr>
          <a:lstStyle/>
          <a:p>
            <a:pPr algn="l">
              <a:spcAft>
                <a:spcPts val="0"/>
              </a:spcAft>
            </a:pPr>
            <a:r>
              <a:rPr sz="1400" b="0">
                <a:solidFill>
                  <a:srgbClr val="222222"/>
                </a:solidFill>
                <a:latin typeface="Arial"/>
              </a:rPr>
              <a:t/>
            </a:r>
            <a:r>
              <a:rPr sz="2200" b="1">
                <a:solidFill>
                  <a:srgbClr val="222222"/>
                </a:solidFill>
                <a:latin typeface="Arial"/>
              </a:rPr>
              <a:t>115</a:t>
            </a:r>
            <a:r>
              <a:rPr sz="1200" b="0">
                <a:solidFill>
                  <a:srgbClr val="52514E"/>
                </a:solidFill>
                <a:latin typeface="Arial"/>
              </a:rPr>
              <a:t>  pairs · 34%</a:t>
            </a:r>
          </a:p>
        </p:txBody>
      </p:sp>
      <p:sp>
        <p:nvSpPr>
          <p:cNvPr id="24" name="Rounded Rectangle 23"/>
          <p:cNvSpPr/>
          <p:nvPr/>
        </p:nvSpPr>
        <p:spPr>
          <a:xfrm>
            <a:off x="7322332" y="1965960"/>
            <a:ext cx="2123785" cy="1024128"/>
          </a:xfrm>
          <a:prstGeom prst="roundRect">
            <a:avLst>
              <a:gd name="adj" fmla="val 10714"/>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523500" y="2185415"/>
            <a:ext cx="155448" cy="155448"/>
          </a:xfrm>
          <a:prstGeom prst="roundRect">
            <a:avLst>
              <a:gd name="adj" fmla="val 23529"/>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61244" y="2121408"/>
            <a:ext cx="1575145" cy="274320"/>
          </a:xfrm>
          <a:prstGeom prst="rect">
            <a:avLst/>
          </a:prstGeom>
          <a:noFill/>
        </p:spPr>
        <p:txBody>
          <a:bodyPr wrap="square" anchor="t" lIns="0" rIns="0" tIns="0" bIns="0">
            <a:spAutoFit/>
          </a:bodyPr>
          <a:lstStyle/>
          <a:p>
            <a:pPr algn="l">
              <a:spcAft>
                <a:spcPts val="0"/>
              </a:spcAft>
            </a:pPr>
            <a:r>
              <a:rPr sz="1300" b="1">
                <a:solidFill>
                  <a:srgbClr val="222222"/>
                </a:solidFill>
                <a:latin typeface="Arial"/>
              </a:rPr>
              <a:t>Excess</a:t>
            </a:r>
          </a:p>
        </p:txBody>
      </p:sp>
      <p:sp>
        <p:nvSpPr>
          <p:cNvPr id="27" name="TextBox 26"/>
          <p:cNvSpPr txBox="1"/>
          <p:nvPr/>
        </p:nvSpPr>
        <p:spPr>
          <a:xfrm>
            <a:off x="7761244" y="2359152"/>
            <a:ext cx="1575145" cy="228600"/>
          </a:xfrm>
          <a:prstGeom prst="rect">
            <a:avLst/>
          </a:prstGeom>
          <a:noFill/>
        </p:spPr>
        <p:txBody>
          <a:bodyPr wrap="square" anchor="t" lIns="0" rIns="0" tIns="0" bIns="0">
            <a:spAutoFit/>
          </a:bodyPr>
          <a:lstStyle/>
          <a:p>
            <a:pPr algn="l">
              <a:spcAft>
                <a:spcPts val="0"/>
              </a:spcAft>
            </a:pPr>
            <a:r>
              <a:rPr sz="1100" b="0">
                <a:solidFill>
                  <a:srgbClr val="52514E"/>
                </a:solidFill>
                <a:latin typeface="Arial"/>
              </a:rPr>
              <a:t>over 26 weeks</a:t>
            </a:r>
          </a:p>
        </p:txBody>
      </p:sp>
      <p:sp>
        <p:nvSpPr>
          <p:cNvPr id="28" name="TextBox 27"/>
          <p:cNvSpPr txBox="1"/>
          <p:nvPr/>
        </p:nvSpPr>
        <p:spPr>
          <a:xfrm>
            <a:off x="7523500" y="2569464"/>
            <a:ext cx="1803745" cy="384048"/>
          </a:xfrm>
          <a:prstGeom prst="rect">
            <a:avLst/>
          </a:prstGeom>
          <a:noFill/>
        </p:spPr>
        <p:txBody>
          <a:bodyPr wrap="square" anchor="t" lIns="0" rIns="0" tIns="0" bIns="0">
            <a:spAutoFit/>
          </a:bodyPr>
          <a:lstStyle/>
          <a:p>
            <a:pPr algn="l">
              <a:spcAft>
                <a:spcPts val="0"/>
              </a:spcAft>
            </a:pPr>
            <a:r>
              <a:rPr sz="1400" b="0">
                <a:solidFill>
                  <a:srgbClr val="222222"/>
                </a:solidFill>
                <a:latin typeface="Arial"/>
              </a:rPr>
              <a:t/>
            </a:r>
            <a:r>
              <a:rPr sz="2200" b="1">
                <a:solidFill>
                  <a:srgbClr val="222222"/>
                </a:solidFill>
                <a:latin typeface="Arial"/>
              </a:rPr>
              <a:t>55</a:t>
            </a:r>
            <a:r>
              <a:rPr sz="1200" b="0">
                <a:solidFill>
                  <a:srgbClr val="52514E"/>
                </a:solidFill>
                <a:latin typeface="Arial"/>
              </a:rPr>
              <a:t>  pairs · 16%</a:t>
            </a:r>
          </a:p>
        </p:txBody>
      </p:sp>
      <p:sp>
        <p:nvSpPr>
          <p:cNvPr id="29" name="Rounded Rectangle 28"/>
          <p:cNvSpPr/>
          <p:nvPr/>
        </p:nvSpPr>
        <p:spPr>
          <a:xfrm>
            <a:off x="9610709" y="1965960"/>
            <a:ext cx="2123785" cy="1024128"/>
          </a:xfrm>
          <a:prstGeom prst="roundRect">
            <a:avLst>
              <a:gd name="adj" fmla="val 10714"/>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811877" y="2185415"/>
            <a:ext cx="155448" cy="155448"/>
          </a:xfrm>
          <a:prstGeom prst="roundRect">
            <a:avLst>
              <a:gd name="adj" fmla="val 23529"/>
            </a:avLst>
          </a:prstGeom>
          <a:solidFill>
            <a:srgbClr val="8987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49621" y="2121408"/>
            <a:ext cx="1575145" cy="274320"/>
          </a:xfrm>
          <a:prstGeom prst="rect">
            <a:avLst/>
          </a:prstGeom>
          <a:noFill/>
        </p:spPr>
        <p:txBody>
          <a:bodyPr wrap="square" anchor="t" lIns="0" rIns="0" tIns="0" bIns="0">
            <a:spAutoFit/>
          </a:bodyPr>
          <a:lstStyle/>
          <a:p>
            <a:pPr algn="l">
              <a:spcAft>
                <a:spcPts val="0"/>
              </a:spcAft>
            </a:pPr>
            <a:r>
              <a:rPr sz="1300" b="1">
                <a:solidFill>
                  <a:srgbClr val="222222"/>
                </a:solidFill>
                <a:latin typeface="Arial"/>
              </a:rPr>
              <a:t>No demand</a:t>
            </a:r>
          </a:p>
        </p:txBody>
      </p:sp>
      <p:sp>
        <p:nvSpPr>
          <p:cNvPr id="32" name="TextBox 31"/>
          <p:cNvSpPr txBox="1"/>
          <p:nvPr/>
        </p:nvSpPr>
        <p:spPr>
          <a:xfrm>
            <a:off x="10049621" y="2359152"/>
            <a:ext cx="1575145" cy="228600"/>
          </a:xfrm>
          <a:prstGeom prst="rect">
            <a:avLst/>
          </a:prstGeom>
          <a:noFill/>
        </p:spPr>
        <p:txBody>
          <a:bodyPr wrap="square" anchor="t" lIns="0" rIns="0" tIns="0" bIns="0">
            <a:spAutoFit/>
          </a:bodyPr>
          <a:lstStyle/>
          <a:p>
            <a:pPr algn="l">
              <a:spcAft>
                <a:spcPts val="0"/>
              </a:spcAft>
            </a:pPr>
            <a:r>
              <a:rPr sz="1100" b="0">
                <a:solidFill>
                  <a:srgbClr val="52514E"/>
                </a:solidFill>
                <a:latin typeface="Arial"/>
              </a:rPr>
              <a:t>none in 24 months</a:t>
            </a:r>
          </a:p>
        </p:txBody>
      </p:sp>
      <p:sp>
        <p:nvSpPr>
          <p:cNvPr id="33" name="TextBox 32"/>
          <p:cNvSpPr txBox="1"/>
          <p:nvPr/>
        </p:nvSpPr>
        <p:spPr>
          <a:xfrm>
            <a:off x="9811877" y="2569464"/>
            <a:ext cx="1803745" cy="384048"/>
          </a:xfrm>
          <a:prstGeom prst="rect">
            <a:avLst/>
          </a:prstGeom>
          <a:noFill/>
        </p:spPr>
        <p:txBody>
          <a:bodyPr wrap="square" anchor="t" lIns="0" rIns="0" tIns="0" bIns="0">
            <a:spAutoFit/>
          </a:bodyPr>
          <a:lstStyle/>
          <a:p>
            <a:pPr algn="l">
              <a:spcAft>
                <a:spcPts val="0"/>
              </a:spcAft>
            </a:pPr>
            <a:r>
              <a:rPr sz="1400" b="0">
                <a:solidFill>
                  <a:srgbClr val="222222"/>
                </a:solidFill>
                <a:latin typeface="Arial"/>
              </a:rPr>
              <a:t/>
            </a:r>
            <a:r>
              <a:rPr sz="2200" b="1">
                <a:solidFill>
                  <a:srgbClr val="222222"/>
                </a:solidFill>
                <a:latin typeface="Arial"/>
              </a:rPr>
              <a:t>40</a:t>
            </a:r>
            <a:r>
              <a:rPr sz="1200" b="0">
                <a:solidFill>
                  <a:srgbClr val="52514E"/>
                </a:solidFill>
                <a:latin typeface="Arial"/>
              </a:rPr>
              <a:t>  pairs · 12%</a:t>
            </a:r>
          </a:p>
        </p:txBody>
      </p:sp>
      <p:sp>
        <p:nvSpPr>
          <p:cNvPr id="34" name="Rounded Rectangle 33"/>
          <p:cNvSpPr/>
          <p:nvPr/>
        </p:nvSpPr>
        <p:spPr>
          <a:xfrm>
            <a:off x="457200" y="3154680"/>
            <a:ext cx="7178040" cy="3063239"/>
          </a:xfrm>
          <a:prstGeom prst="roundRect">
            <a:avLst>
              <a:gd name="adj" fmla="val 3582"/>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13232" y="3355848"/>
            <a:ext cx="6720840" cy="274320"/>
          </a:xfrm>
          <a:prstGeom prst="rect">
            <a:avLst/>
          </a:prstGeom>
          <a:noFill/>
        </p:spPr>
        <p:txBody>
          <a:bodyPr wrap="square" anchor="t" lIns="0" rIns="0" tIns="0" bIns="0">
            <a:spAutoFit/>
          </a:bodyPr>
          <a:lstStyle/>
          <a:p>
            <a:pPr algn="l">
              <a:spcAft>
                <a:spcPts val="0"/>
              </a:spcAft>
            </a:pPr>
            <a:r>
              <a:rPr sz="1400" b="1">
                <a:solidFill>
                  <a:srgbClr val="222222"/>
                </a:solidFill>
                <a:latin typeface="Arial"/>
              </a:rPr>
              <a:t>Share of pairs in each status, by site</a:t>
            </a:r>
          </a:p>
        </p:txBody>
      </p:sp>
      <p:graphicFrame>
        <p:nvGraphicFramePr>
          <p:cNvPr id="36" name="Chart 35"/>
          <p:cNvGraphicFramePr>
            <a:graphicFrameLocks noGrp="1"/>
          </p:cNvGraphicFramePr>
          <p:nvPr/>
        </p:nvGraphicFramePr>
        <p:xfrm>
          <a:off x="594360" y="3657600"/>
          <a:ext cx="6858000" cy="2468879"/>
        </p:xfrm>
        <a:graphic>
          <a:graphicData uri="http://schemas.openxmlformats.org/drawingml/2006/chart">
            <c:chart xmlns:c="http://schemas.openxmlformats.org/drawingml/2006/chart" r:id="rId4"/>
          </a:graphicData>
        </a:graphic>
      </p:graphicFrame>
      <p:sp>
        <p:nvSpPr>
          <p:cNvPr id="37" name="Rounded Rectangle 36"/>
          <p:cNvSpPr/>
          <p:nvPr/>
        </p:nvSpPr>
        <p:spPr>
          <a:xfrm>
            <a:off x="7799831" y="3154680"/>
            <a:ext cx="3934663" cy="3063239"/>
          </a:xfrm>
          <a:prstGeom prst="roundRect">
            <a:avLst>
              <a:gd name="adj" fmla="val 3582"/>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055863" y="3355848"/>
            <a:ext cx="3477463" cy="274320"/>
          </a:xfrm>
          <a:prstGeom prst="rect">
            <a:avLst/>
          </a:prstGeom>
          <a:noFill/>
        </p:spPr>
        <p:txBody>
          <a:bodyPr wrap="square" anchor="t" lIns="0" rIns="0" tIns="0" bIns="0">
            <a:spAutoFit/>
          </a:bodyPr>
          <a:lstStyle/>
          <a:p>
            <a:pPr algn="l">
              <a:spcAft>
                <a:spcPts val="0"/>
              </a:spcAft>
            </a:pPr>
            <a:r>
              <a:rPr sz="1400" b="1">
                <a:solidFill>
                  <a:srgbClr val="222222"/>
                </a:solidFill>
                <a:latin typeface="Arial"/>
              </a:rPr>
              <a:t>How the numbers work</a:t>
            </a:r>
          </a:p>
        </p:txBody>
      </p:sp>
      <p:sp>
        <p:nvSpPr>
          <p:cNvPr id="39" name="Rounded Rectangle 38"/>
          <p:cNvSpPr/>
          <p:nvPr/>
        </p:nvSpPr>
        <p:spPr>
          <a:xfrm>
            <a:off x="8055863" y="3813048"/>
            <a:ext cx="365760" cy="365760"/>
          </a:xfrm>
          <a:prstGeom prst="roundRect">
            <a:avLst>
              <a:gd name="adj" fmla="val 28000"/>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0" name="Picture 39" descr="image.png"/>
          <p:cNvPicPr>
            <a:picLocks noChangeAspect="1"/>
          </p:cNvPicPr>
          <p:nvPr/>
        </p:nvPicPr>
        <p:blipFill>
          <a:blip r:embed="rId5"/>
          <a:stretch>
            <a:fillRect/>
          </a:stretch>
        </p:blipFill>
        <p:spPr>
          <a:xfrm>
            <a:off x="8129015" y="3886200"/>
            <a:ext cx="219456" cy="219456"/>
          </a:xfrm>
          <a:prstGeom prst="rect">
            <a:avLst/>
          </a:prstGeom>
        </p:spPr>
      </p:pic>
      <p:sp>
        <p:nvSpPr>
          <p:cNvPr id="41" name="TextBox 40"/>
          <p:cNvSpPr txBox="1"/>
          <p:nvPr/>
        </p:nvSpPr>
        <p:spPr>
          <a:xfrm>
            <a:off x="8586215" y="3785615"/>
            <a:ext cx="2947111" cy="731520"/>
          </a:xfrm>
          <a:prstGeom prst="rect">
            <a:avLst/>
          </a:prstGeom>
          <a:noFill/>
        </p:spPr>
        <p:txBody>
          <a:bodyPr wrap="square" anchor="t" lIns="0" rIns="0" tIns="0" bIns="0">
            <a:spAutoFit/>
          </a:bodyPr>
          <a:lstStyle/>
          <a:p>
            <a:pPr algn="l">
              <a:spcAft>
                <a:spcPts val="0"/>
              </a:spcAft>
            </a:pPr>
            <a:r>
              <a:rPr sz="1300" b="1">
                <a:solidFill>
                  <a:srgbClr val="222222"/>
                </a:solidFill>
                <a:latin typeface="Arial"/>
              </a:rPr>
              <a:t>Weeks of supply</a:t>
            </a:r>
            <a:r>
              <a:rPr sz="1300" b="0">
                <a:solidFill>
                  <a:srgbClr val="222222"/>
                </a:solidFill>
                <a:latin typeface="Arial"/>
              </a:rPr>
              <a:t> = stock today ÷ average weekly demand over Nov to Jan, per part and site.</a:t>
            </a:r>
          </a:p>
        </p:txBody>
      </p:sp>
      <p:sp>
        <p:nvSpPr>
          <p:cNvPr id="42" name="Rounded Rectangle 41"/>
          <p:cNvSpPr/>
          <p:nvPr/>
        </p:nvSpPr>
        <p:spPr>
          <a:xfrm>
            <a:off x="8055863" y="4599432"/>
            <a:ext cx="365760" cy="365760"/>
          </a:xfrm>
          <a:prstGeom prst="roundRect">
            <a:avLst>
              <a:gd name="adj" fmla="val 28000"/>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image.png"/>
          <p:cNvPicPr>
            <a:picLocks noChangeAspect="1"/>
          </p:cNvPicPr>
          <p:nvPr/>
        </p:nvPicPr>
        <p:blipFill>
          <a:blip r:embed="rId6"/>
          <a:stretch>
            <a:fillRect/>
          </a:stretch>
        </p:blipFill>
        <p:spPr>
          <a:xfrm>
            <a:off x="8129015" y="4672584"/>
            <a:ext cx="219456" cy="219456"/>
          </a:xfrm>
          <a:prstGeom prst="rect">
            <a:avLst/>
          </a:prstGeom>
        </p:spPr>
      </p:pic>
      <p:sp>
        <p:nvSpPr>
          <p:cNvPr id="44" name="TextBox 43"/>
          <p:cNvSpPr txBox="1"/>
          <p:nvPr/>
        </p:nvSpPr>
        <p:spPr>
          <a:xfrm>
            <a:off x="8586215" y="4572000"/>
            <a:ext cx="2947111" cy="731520"/>
          </a:xfrm>
          <a:prstGeom prst="rect">
            <a:avLst/>
          </a:prstGeom>
          <a:noFill/>
        </p:spPr>
        <p:txBody>
          <a:bodyPr wrap="square" anchor="t" lIns="0" rIns="0" tIns="0" bIns="0">
            <a:spAutoFit/>
          </a:bodyPr>
          <a:lstStyle/>
          <a:p>
            <a:pPr algn="l">
              <a:spcAft>
                <a:spcPts val="0"/>
              </a:spcAft>
            </a:pPr>
            <a:r>
              <a:rPr sz="1300" b="1">
                <a:solidFill>
                  <a:srgbClr val="222222"/>
                </a:solidFill>
                <a:latin typeface="Arial"/>
              </a:rPr>
              <a:t>4 weeks</a:t>
            </a:r>
            <a:r>
              <a:rPr sz="1300" b="0">
                <a:solidFill>
                  <a:srgbClr val="222222"/>
                </a:solidFill>
                <a:latin typeface="Arial"/>
              </a:rPr>
              <a:t> is about one restock cycle. </a:t>
            </a:r>
            <a:r>
              <a:rPr sz="1300" b="1">
                <a:solidFill>
                  <a:srgbClr val="222222"/>
                </a:solidFill>
                <a:latin typeface="Arial"/>
              </a:rPr>
              <a:t>26 weeks</a:t>
            </a:r>
            <a:r>
              <a:rPr sz="1300" b="0">
                <a:solidFill>
                  <a:srgbClr val="222222"/>
                </a:solidFill>
                <a:latin typeface="Arial"/>
              </a:rPr>
              <a:t> is half a year of stock.</a:t>
            </a:r>
          </a:p>
        </p:txBody>
      </p:sp>
      <p:sp>
        <p:nvSpPr>
          <p:cNvPr id="45" name="Rounded Rectangle 44"/>
          <p:cNvSpPr/>
          <p:nvPr/>
        </p:nvSpPr>
        <p:spPr>
          <a:xfrm>
            <a:off x="8055863" y="5385816"/>
            <a:ext cx="365760" cy="365760"/>
          </a:xfrm>
          <a:prstGeom prst="roundRect">
            <a:avLst>
              <a:gd name="adj" fmla="val 28000"/>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image.png"/>
          <p:cNvPicPr>
            <a:picLocks noChangeAspect="1"/>
          </p:cNvPicPr>
          <p:nvPr/>
        </p:nvPicPr>
        <p:blipFill>
          <a:blip r:embed="rId7"/>
          <a:stretch>
            <a:fillRect/>
          </a:stretch>
        </p:blipFill>
        <p:spPr>
          <a:xfrm>
            <a:off x="8129015" y="5458968"/>
            <a:ext cx="219456" cy="219456"/>
          </a:xfrm>
          <a:prstGeom prst="rect">
            <a:avLst/>
          </a:prstGeom>
        </p:spPr>
      </p:pic>
      <p:sp>
        <p:nvSpPr>
          <p:cNvPr id="47" name="TextBox 46"/>
          <p:cNvSpPr txBox="1"/>
          <p:nvPr/>
        </p:nvSpPr>
        <p:spPr>
          <a:xfrm>
            <a:off x="8586215" y="5358383"/>
            <a:ext cx="2947111" cy="731520"/>
          </a:xfrm>
          <a:prstGeom prst="rect">
            <a:avLst/>
          </a:prstGeom>
          <a:noFill/>
        </p:spPr>
        <p:txBody>
          <a:bodyPr wrap="square" anchor="t" lIns="0" rIns="0" tIns="0" bIns="0">
            <a:spAutoFit/>
          </a:bodyPr>
          <a:lstStyle/>
          <a:p>
            <a:pPr algn="l">
              <a:spcAft>
                <a:spcPts val="0"/>
              </a:spcAft>
            </a:pPr>
            <a:r>
              <a:rPr sz="1300" b="1">
                <a:solidFill>
                  <a:srgbClr val="222222"/>
                </a:solidFill>
                <a:latin typeface="Arial"/>
              </a:rPr>
              <a:t>A mix per site, not one average. </a:t>
            </a:r>
            <a:r>
              <a:rPr sz="1300" b="0">
                <a:solidFill>
                  <a:srgbClr val="222222"/>
                </a:solidFill>
                <a:latin typeface="Arial"/>
              </a:rPr>
              <a:t>PDC1 averages 11.0 weeks, yet half its pairs have 2.6 or less.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ounded Rectangle 1"/>
          <p:cNvSpPr/>
          <p:nvPr/>
        </p:nvSpPr>
        <p:spPr>
          <a:xfrm>
            <a:off x="457200" y="365760"/>
            <a:ext cx="11277295" cy="1371600"/>
          </a:xfrm>
          <a:prstGeom prst="roundRect">
            <a:avLst>
              <a:gd name="adj" fmla="val 12000"/>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658368"/>
            <a:ext cx="603504" cy="603504"/>
          </a:xfrm>
          <a:prstGeom prst="roundRect">
            <a:avLst>
              <a:gd name="adj" fmla="val 28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852220" y="779068"/>
            <a:ext cx="362102" cy="362102"/>
          </a:xfrm>
          <a:prstGeom prst="rect">
            <a:avLst/>
          </a:prstGeom>
        </p:spPr>
      </p:pic>
      <p:sp>
        <p:nvSpPr>
          <p:cNvPr id="5" name="Rounded Rectangle 4"/>
          <p:cNvSpPr/>
          <p:nvPr/>
        </p:nvSpPr>
        <p:spPr>
          <a:xfrm>
            <a:off x="1554480" y="566928"/>
            <a:ext cx="3227832" cy="246888"/>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Arial"/>
              </a:rPr>
              <a:t>BY JAN 31 · ONCE INCOMING SUPPLY LANDS</a:t>
            </a:r>
          </a:p>
        </p:txBody>
      </p:sp>
      <p:sp>
        <p:nvSpPr>
          <p:cNvPr id="6" name="TextBox 5"/>
          <p:cNvSpPr txBox="1"/>
          <p:nvPr/>
        </p:nvSpPr>
        <p:spPr>
          <a:xfrm>
            <a:off x="1554480" y="896112"/>
            <a:ext cx="9905695" cy="713232"/>
          </a:xfrm>
          <a:prstGeom prst="rect">
            <a:avLst/>
          </a:prstGeom>
          <a:noFill/>
        </p:spPr>
        <p:txBody>
          <a:bodyPr wrap="square" anchor="ctr" lIns="0" rIns="0" tIns="0" bIns="0">
            <a:spAutoFit/>
          </a:bodyPr>
          <a:lstStyle/>
          <a:p>
            <a:pPr algn="l">
              <a:spcAft>
                <a:spcPts val="0"/>
              </a:spcAft>
            </a:pPr>
            <a:r>
              <a:rPr sz="2200" b="1">
                <a:solidFill>
                  <a:srgbClr val="FFFFFF"/>
                </a:solidFill>
                <a:latin typeface="Arial"/>
              </a:rPr>
              <a:t>Incoming supply doesn't fix it: if no new order lands, pairs out of stock rise from 47 today to 114 on Jan 31</a:t>
            </a:r>
          </a:p>
        </p:txBody>
      </p:sp>
      <p:sp>
        <p:nvSpPr>
          <p:cNvPr id="7" name="TextBox 6"/>
          <p:cNvSpPr txBox="1"/>
          <p:nvPr/>
        </p:nvSpPr>
        <p:spPr>
          <a:xfrm>
            <a:off x="457200" y="6400800"/>
            <a:ext cx="9144000" cy="228600"/>
          </a:xfrm>
          <a:prstGeom prst="rect">
            <a:avLst/>
          </a:prstGeom>
          <a:noFill/>
        </p:spPr>
        <p:txBody>
          <a:bodyPr wrap="square" anchor="t" lIns="0" rIns="0" tIns="0" bIns="0">
            <a:spAutoFit/>
          </a:bodyPr>
          <a:lstStyle/>
          <a:p>
            <a:pPr algn="l">
              <a:spcAft>
                <a:spcPts val="600"/>
              </a:spcAft>
            </a:pPr>
            <a:r>
              <a:rPr sz="1000" b="0">
                <a:solidFill>
                  <a:srgbClr val="808080"/>
                </a:solidFill>
                <a:latin typeface="Arial"/>
              </a:rPr>
              <a:t>Service parts inventory health check  ·  snapshot Oct 22, 2026  ·  projected to Jan 31, 2027</a:t>
            </a:r>
          </a:p>
        </p:txBody>
      </p:sp>
      <p:sp>
        <p:nvSpPr>
          <p:cNvPr id="8" name="TextBox 7"/>
          <p:cNvSpPr txBox="1"/>
          <p:nvPr/>
        </p:nvSpPr>
        <p:spPr>
          <a:xfrm>
            <a:off x="10820095" y="6400800"/>
            <a:ext cx="914400" cy="228600"/>
          </a:xfrm>
          <a:prstGeom prst="rect">
            <a:avLst/>
          </a:prstGeom>
          <a:noFill/>
        </p:spPr>
        <p:txBody>
          <a:bodyPr wrap="square" anchor="t" lIns="0" rIns="0" tIns="0" bIns="0">
            <a:spAutoFit/>
          </a:bodyPr>
          <a:lstStyle/>
          <a:p>
            <a:pPr algn="r">
              <a:spcAft>
                <a:spcPts val="600"/>
              </a:spcAft>
            </a:pPr>
            <a:r>
              <a:rPr sz="1000" b="0">
                <a:solidFill>
                  <a:srgbClr val="808080"/>
                </a:solidFill>
                <a:latin typeface="Arial"/>
              </a:rPr>
              <a:t>2</a:t>
            </a:r>
          </a:p>
        </p:txBody>
      </p:sp>
      <p:sp>
        <p:nvSpPr>
          <p:cNvPr id="9" name="Rounded Rectangle 8"/>
          <p:cNvSpPr/>
          <p:nvPr/>
        </p:nvSpPr>
        <p:spPr>
          <a:xfrm>
            <a:off x="457200" y="1965960"/>
            <a:ext cx="7178040" cy="4251960"/>
          </a:xfrm>
          <a:prstGeom prst="roundRect">
            <a:avLst>
              <a:gd name="adj" fmla="val 258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167128"/>
            <a:ext cx="6675120" cy="274320"/>
          </a:xfrm>
          <a:prstGeom prst="rect">
            <a:avLst/>
          </a:prstGeom>
          <a:noFill/>
        </p:spPr>
        <p:txBody>
          <a:bodyPr wrap="square" anchor="t" lIns="0" rIns="0" tIns="0" bIns="0">
            <a:spAutoFit/>
          </a:bodyPr>
          <a:lstStyle/>
          <a:p>
            <a:pPr algn="l">
              <a:spcAft>
                <a:spcPts val="0"/>
              </a:spcAft>
            </a:pPr>
            <a:r>
              <a:rPr sz="1400" b="1">
                <a:solidFill>
                  <a:srgbClr val="222222"/>
                </a:solidFill>
                <a:latin typeface="Arial"/>
              </a:rPr>
              <a:t>Pairs out of stock at each site, today and on Jan 31</a:t>
            </a:r>
          </a:p>
        </p:txBody>
      </p:sp>
      <p:graphicFrame>
        <p:nvGraphicFramePr>
          <p:cNvPr id="11" name="Chart 10"/>
          <p:cNvGraphicFramePr>
            <a:graphicFrameLocks noGrp="1"/>
          </p:cNvGraphicFramePr>
          <p:nvPr/>
        </p:nvGraphicFramePr>
        <p:xfrm>
          <a:off x="594360" y="2468880"/>
          <a:ext cx="6858000" cy="3017520"/>
        </p:xfrm>
        <a:graphic>
          <a:graphicData uri="http://schemas.openxmlformats.org/drawingml/2006/chart">
            <c:chart xmlns:c="http://schemas.openxmlformats.org/drawingml/2006/chart" r:id="rId4"/>
          </a:graphicData>
        </a:graphic>
      </p:graphicFrame>
      <p:sp>
        <p:nvSpPr>
          <p:cNvPr id="12" name="TextBox 11"/>
          <p:cNvSpPr txBox="1"/>
          <p:nvPr/>
        </p:nvSpPr>
        <p:spPr>
          <a:xfrm>
            <a:off x="713232" y="5486400"/>
            <a:ext cx="6675120" cy="594360"/>
          </a:xfrm>
          <a:prstGeom prst="rect">
            <a:avLst/>
          </a:prstGeom>
          <a:noFill/>
        </p:spPr>
        <p:txBody>
          <a:bodyPr wrap="square" anchor="t" lIns="0" rIns="0" tIns="0" bIns="0">
            <a:spAutoFit/>
          </a:bodyPr>
          <a:lstStyle/>
          <a:p>
            <a:pPr algn="l">
              <a:spcAft>
                <a:spcPts val="600"/>
              </a:spcAft>
            </a:pPr>
            <a:r>
              <a:rPr sz="1300" b="0">
                <a:solidFill>
                  <a:srgbClr val="52514E"/>
                </a:solidFill>
                <a:latin typeface="Arial"/>
              </a:rPr>
              <a:t>The GDC rises the most, from 5 to 52: it keeps shipping restock to the PDCs, and 47 of its parts have no PO landing in time.</a:t>
            </a:r>
          </a:p>
        </p:txBody>
      </p:sp>
      <p:sp>
        <p:nvSpPr>
          <p:cNvPr id="13" name="Rounded Rectangle 12"/>
          <p:cNvSpPr/>
          <p:nvPr/>
        </p:nvSpPr>
        <p:spPr>
          <a:xfrm>
            <a:off x="7799831" y="1965960"/>
            <a:ext cx="3934663" cy="1307592"/>
          </a:xfrm>
          <a:prstGeom prst="roundRect">
            <a:avLst>
              <a:gd name="adj" fmla="val 8391"/>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28431" y="2167128"/>
            <a:ext cx="365760" cy="365760"/>
          </a:xfrm>
          <a:prstGeom prst="roundRect">
            <a:avLst>
              <a:gd name="adj" fmla="val 28000"/>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mage.png"/>
          <p:cNvPicPr>
            <a:picLocks noChangeAspect="1"/>
          </p:cNvPicPr>
          <p:nvPr/>
        </p:nvPicPr>
        <p:blipFill>
          <a:blip r:embed="rId5"/>
          <a:stretch>
            <a:fillRect/>
          </a:stretch>
        </p:blipFill>
        <p:spPr>
          <a:xfrm>
            <a:off x="8101583" y="2240280"/>
            <a:ext cx="219456" cy="219456"/>
          </a:xfrm>
          <a:prstGeom prst="rect">
            <a:avLst/>
          </a:prstGeom>
        </p:spPr>
      </p:pic>
      <p:sp>
        <p:nvSpPr>
          <p:cNvPr id="16" name="TextBox 15"/>
          <p:cNvSpPr txBox="1"/>
          <p:nvPr/>
        </p:nvSpPr>
        <p:spPr>
          <a:xfrm>
            <a:off x="8531352" y="2167128"/>
            <a:ext cx="3020263" cy="365760"/>
          </a:xfrm>
          <a:prstGeom prst="rect">
            <a:avLst/>
          </a:prstGeom>
          <a:noFill/>
        </p:spPr>
        <p:txBody>
          <a:bodyPr wrap="square" anchor="ctr" lIns="0" rIns="0" tIns="0" bIns="0">
            <a:spAutoFit/>
          </a:bodyPr>
          <a:lstStyle/>
          <a:p>
            <a:pPr algn="l">
              <a:spcAft>
                <a:spcPts val="0"/>
              </a:spcAft>
            </a:pPr>
            <a:r>
              <a:rPr sz="1300" b="0">
                <a:solidFill>
                  <a:srgbClr val="52514E"/>
                </a:solidFill>
                <a:latin typeface="Arial"/>
              </a:rPr>
              <a:t>Healthy today, out of stock on Jan 31</a:t>
            </a:r>
          </a:p>
        </p:txBody>
      </p:sp>
      <p:sp>
        <p:nvSpPr>
          <p:cNvPr id="17" name="TextBox 16"/>
          <p:cNvSpPr txBox="1"/>
          <p:nvPr/>
        </p:nvSpPr>
        <p:spPr>
          <a:xfrm>
            <a:off x="8028431" y="2569464"/>
            <a:ext cx="3523183" cy="411480"/>
          </a:xfrm>
          <a:prstGeom prst="rect">
            <a:avLst/>
          </a:prstGeom>
          <a:noFill/>
        </p:spPr>
        <p:txBody>
          <a:bodyPr wrap="square" anchor="t" lIns="0" rIns="0" tIns="0" bIns="0">
            <a:spAutoFit/>
          </a:bodyPr>
          <a:lstStyle/>
          <a:p>
            <a:pPr algn="l">
              <a:spcAft>
                <a:spcPts val="0"/>
              </a:spcAft>
            </a:pPr>
            <a:r>
              <a:rPr sz="2800" b="1">
                <a:solidFill>
                  <a:srgbClr val="D03B3B"/>
                </a:solidFill>
                <a:latin typeface="Arial"/>
              </a:rPr>
              <a:t>43 of 115</a:t>
            </a:r>
          </a:p>
        </p:txBody>
      </p:sp>
      <p:sp>
        <p:nvSpPr>
          <p:cNvPr id="18" name="TextBox 17"/>
          <p:cNvSpPr txBox="1"/>
          <p:nvPr/>
        </p:nvSpPr>
        <p:spPr>
          <a:xfrm>
            <a:off x="8028431" y="2953512"/>
            <a:ext cx="3523183" cy="256032"/>
          </a:xfrm>
          <a:prstGeom prst="rect">
            <a:avLst/>
          </a:prstGeom>
          <a:noFill/>
        </p:spPr>
        <p:txBody>
          <a:bodyPr wrap="square" anchor="t" lIns="0" rIns="0" tIns="0" bIns="0">
            <a:spAutoFit/>
          </a:bodyPr>
          <a:lstStyle/>
          <a:p>
            <a:pPr algn="l">
              <a:spcAft>
                <a:spcPts val="0"/>
              </a:spcAft>
            </a:pPr>
            <a:r>
              <a:rPr sz="1200" b="0">
                <a:solidFill>
                  <a:srgbClr val="52514E"/>
                </a:solidFill>
                <a:latin typeface="Arial"/>
              </a:rPr>
              <a:t>37% of today's Healthy pairs</a:t>
            </a:r>
          </a:p>
        </p:txBody>
      </p:sp>
      <p:sp>
        <p:nvSpPr>
          <p:cNvPr id="19" name="Rounded Rectangle 18"/>
          <p:cNvSpPr/>
          <p:nvPr/>
        </p:nvSpPr>
        <p:spPr>
          <a:xfrm>
            <a:off x="7799831" y="3438144"/>
            <a:ext cx="3934663" cy="1307592"/>
          </a:xfrm>
          <a:prstGeom prst="roundRect">
            <a:avLst>
              <a:gd name="adj" fmla="val 8391"/>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028431" y="3639312"/>
            <a:ext cx="365760" cy="365760"/>
          </a:xfrm>
          <a:prstGeom prst="roundRect">
            <a:avLst>
              <a:gd name="adj" fmla="val 28000"/>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6"/>
          <a:stretch>
            <a:fillRect/>
          </a:stretch>
        </p:blipFill>
        <p:spPr>
          <a:xfrm>
            <a:off x="8101583" y="3712464"/>
            <a:ext cx="219456" cy="219456"/>
          </a:xfrm>
          <a:prstGeom prst="rect">
            <a:avLst/>
          </a:prstGeom>
        </p:spPr>
      </p:pic>
      <p:sp>
        <p:nvSpPr>
          <p:cNvPr id="22" name="TextBox 21"/>
          <p:cNvSpPr txBox="1"/>
          <p:nvPr/>
        </p:nvSpPr>
        <p:spPr>
          <a:xfrm>
            <a:off x="8531352" y="3639312"/>
            <a:ext cx="3020263" cy="365760"/>
          </a:xfrm>
          <a:prstGeom prst="rect">
            <a:avLst/>
          </a:prstGeom>
          <a:noFill/>
        </p:spPr>
        <p:txBody>
          <a:bodyPr wrap="square" anchor="ctr" lIns="0" rIns="0" tIns="0" bIns="0">
            <a:spAutoFit/>
          </a:bodyPr>
          <a:lstStyle/>
          <a:p>
            <a:pPr algn="l">
              <a:spcAft>
                <a:spcPts val="0"/>
              </a:spcAft>
            </a:pPr>
            <a:r>
              <a:rPr sz="1300" b="0">
                <a:solidFill>
                  <a:srgbClr val="52514E"/>
                </a:solidFill>
                <a:latin typeface="Arial"/>
              </a:rPr>
              <a:t>Pairs that run out before Jan 31</a:t>
            </a:r>
          </a:p>
        </p:txBody>
      </p:sp>
      <p:sp>
        <p:nvSpPr>
          <p:cNvPr id="23" name="TextBox 22"/>
          <p:cNvSpPr txBox="1"/>
          <p:nvPr/>
        </p:nvSpPr>
        <p:spPr>
          <a:xfrm>
            <a:off x="8028431" y="4041648"/>
            <a:ext cx="3523183" cy="411480"/>
          </a:xfrm>
          <a:prstGeom prst="rect">
            <a:avLst/>
          </a:prstGeom>
          <a:noFill/>
        </p:spPr>
        <p:txBody>
          <a:bodyPr wrap="square" anchor="t" lIns="0" rIns="0" tIns="0" bIns="0">
            <a:spAutoFit/>
          </a:bodyPr>
          <a:lstStyle/>
          <a:p>
            <a:pPr algn="l">
              <a:spcAft>
                <a:spcPts val="0"/>
              </a:spcAft>
            </a:pPr>
            <a:r>
              <a:rPr sz="2800" b="1">
                <a:solidFill>
                  <a:srgbClr val="222222"/>
                </a:solidFill>
                <a:latin typeface="Arial"/>
              </a:rPr>
              <a:t>158</a:t>
            </a:r>
          </a:p>
        </p:txBody>
      </p:sp>
      <p:sp>
        <p:nvSpPr>
          <p:cNvPr id="24" name="TextBox 23"/>
          <p:cNvSpPr txBox="1"/>
          <p:nvPr/>
        </p:nvSpPr>
        <p:spPr>
          <a:xfrm>
            <a:off x="8028431" y="4425696"/>
            <a:ext cx="3523183" cy="256032"/>
          </a:xfrm>
          <a:prstGeom prst="rect">
            <a:avLst/>
          </a:prstGeom>
          <a:noFill/>
        </p:spPr>
        <p:txBody>
          <a:bodyPr wrap="square" anchor="t" lIns="0" rIns="0" tIns="0" bIns="0">
            <a:spAutoFit/>
          </a:bodyPr>
          <a:lstStyle/>
          <a:p>
            <a:pPr algn="l">
              <a:spcAft>
                <a:spcPts val="0"/>
              </a:spcAft>
            </a:pPr>
            <a:r>
              <a:rPr sz="1200" b="0">
                <a:solidFill>
                  <a:srgbClr val="52514E"/>
                </a:solidFill>
                <a:latin typeface="Arial"/>
              </a:rPr>
              <a:t>even with every open PO and transfer</a:t>
            </a:r>
          </a:p>
        </p:txBody>
      </p:sp>
      <p:sp>
        <p:nvSpPr>
          <p:cNvPr id="25" name="Rounded Rectangle 24"/>
          <p:cNvSpPr/>
          <p:nvPr/>
        </p:nvSpPr>
        <p:spPr>
          <a:xfrm>
            <a:off x="7799831" y="4910327"/>
            <a:ext cx="3934663" cy="1307592"/>
          </a:xfrm>
          <a:prstGeom prst="roundRect">
            <a:avLst>
              <a:gd name="adj" fmla="val 8391"/>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028431" y="5111495"/>
            <a:ext cx="365760" cy="365760"/>
          </a:xfrm>
          <a:prstGeom prst="roundRect">
            <a:avLst>
              <a:gd name="adj" fmla="val 28000"/>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mage.png"/>
          <p:cNvPicPr>
            <a:picLocks noChangeAspect="1"/>
          </p:cNvPicPr>
          <p:nvPr/>
        </p:nvPicPr>
        <p:blipFill>
          <a:blip r:embed="rId7"/>
          <a:stretch>
            <a:fillRect/>
          </a:stretch>
        </p:blipFill>
        <p:spPr>
          <a:xfrm>
            <a:off x="8101583" y="5184647"/>
            <a:ext cx="219456" cy="219456"/>
          </a:xfrm>
          <a:prstGeom prst="rect">
            <a:avLst/>
          </a:prstGeom>
        </p:spPr>
      </p:pic>
      <p:sp>
        <p:nvSpPr>
          <p:cNvPr id="28" name="TextBox 27"/>
          <p:cNvSpPr txBox="1"/>
          <p:nvPr/>
        </p:nvSpPr>
        <p:spPr>
          <a:xfrm>
            <a:off x="8531352" y="5111495"/>
            <a:ext cx="3020263" cy="365760"/>
          </a:xfrm>
          <a:prstGeom prst="rect">
            <a:avLst/>
          </a:prstGeom>
          <a:noFill/>
        </p:spPr>
        <p:txBody>
          <a:bodyPr wrap="square" anchor="ctr" lIns="0" rIns="0" tIns="0" bIns="0">
            <a:spAutoFit/>
          </a:bodyPr>
          <a:lstStyle/>
          <a:p>
            <a:pPr algn="l">
              <a:spcAft>
                <a:spcPts val="0"/>
              </a:spcAft>
            </a:pPr>
            <a:r>
              <a:rPr sz="1300" b="0">
                <a:solidFill>
                  <a:srgbClr val="52514E"/>
                </a:solidFill>
                <a:latin typeface="Arial"/>
              </a:rPr>
              <a:t>Planned restock the GDC can send</a:t>
            </a:r>
          </a:p>
        </p:txBody>
      </p:sp>
      <p:sp>
        <p:nvSpPr>
          <p:cNvPr id="29" name="TextBox 28"/>
          <p:cNvSpPr txBox="1"/>
          <p:nvPr/>
        </p:nvSpPr>
        <p:spPr>
          <a:xfrm>
            <a:off x="8028431" y="5513831"/>
            <a:ext cx="3523183" cy="411480"/>
          </a:xfrm>
          <a:prstGeom prst="rect">
            <a:avLst/>
          </a:prstGeom>
          <a:noFill/>
        </p:spPr>
        <p:txBody>
          <a:bodyPr wrap="square" anchor="t" lIns="0" rIns="0" tIns="0" bIns="0">
            <a:spAutoFit/>
          </a:bodyPr>
          <a:lstStyle/>
          <a:p>
            <a:pPr algn="l">
              <a:spcAft>
                <a:spcPts val="0"/>
              </a:spcAft>
            </a:pPr>
            <a:r>
              <a:rPr sz="2800" b="1">
                <a:solidFill>
                  <a:srgbClr val="222222"/>
                </a:solidFill>
                <a:latin typeface="Arial"/>
              </a:rPr>
              <a:t>54%</a:t>
            </a:r>
          </a:p>
        </p:txBody>
      </p:sp>
      <p:sp>
        <p:nvSpPr>
          <p:cNvPr id="30" name="TextBox 29"/>
          <p:cNvSpPr txBox="1"/>
          <p:nvPr/>
        </p:nvSpPr>
        <p:spPr>
          <a:xfrm>
            <a:off x="8028431" y="5897879"/>
            <a:ext cx="3523183" cy="256032"/>
          </a:xfrm>
          <a:prstGeom prst="rect">
            <a:avLst/>
          </a:prstGeom>
          <a:noFill/>
        </p:spPr>
        <p:txBody>
          <a:bodyPr wrap="square" anchor="t" lIns="0" rIns="0" tIns="0" bIns="0">
            <a:spAutoFit/>
          </a:bodyPr>
          <a:lstStyle/>
          <a:p>
            <a:pPr algn="l">
              <a:spcAft>
                <a:spcPts val="0"/>
              </a:spcAft>
            </a:pPr>
            <a:r>
              <a:rPr sz="1200" b="0">
                <a:solidFill>
                  <a:srgbClr val="52514E"/>
                </a:solidFill>
                <a:latin typeface="Arial"/>
              </a:rPr>
              <a:t>14,813 of 27,311 pieces, Nov to Jan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ounded Rectangle 1"/>
          <p:cNvSpPr/>
          <p:nvPr/>
        </p:nvSpPr>
        <p:spPr>
          <a:xfrm>
            <a:off x="457200" y="365760"/>
            <a:ext cx="11277295" cy="1371600"/>
          </a:xfrm>
          <a:prstGeom prst="roundRect">
            <a:avLst>
              <a:gd name="adj" fmla="val 12000"/>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658368"/>
            <a:ext cx="603504" cy="603504"/>
          </a:xfrm>
          <a:prstGeom prst="roundRect">
            <a:avLst>
              <a:gd name="adj" fmla="val 28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852220" y="779068"/>
            <a:ext cx="362102" cy="362102"/>
          </a:xfrm>
          <a:prstGeom prst="rect">
            <a:avLst/>
          </a:prstGeom>
        </p:spPr>
      </p:pic>
      <p:sp>
        <p:nvSpPr>
          <p:cNvPr id="5" name="Rounded Rectangle 4"/>
          <p:cNvSpPr/>
          <p:nvPr/>
        </p:nvSpPr>
        <p:spPr>
          <a:xfrm>
            <a:off x="1554480" y="566928"/>
            <a:ext cx="3305556" cy="246888"/>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Arial"/>
              </a:rPr>
              <a:t>WHAT TO DO NOW · FROM THE SUPPLY REVIEW</a:t>
            </a:r>
          </a:p>
        </p:txBody>
      </p:sp>
      <p:sp>
        <p:nvSpPr>
          <p:cNvPr id="6" name="TextBox 5"/>
          <p:cNvSpPr txBox="1"/>
          <p:nvPr/>
        </p:nvSpPr>
        <p:spPr>
          <a:xfrm>
            <a:off x="1554480" y="896112"/>
            <a:ext cx="9905695" cy="713232"/>
          </a:xfrm>
          <a:prstGeom prst="rect">
            <a:avLst/>
          </a:prstGeom>
          <a:noFill/>
        </p:spPr>
        <p:txBody>
          <a:bodyPr wrap="square" anchor="ctr" lIns="0" rIns="0" tIns="0" bIns="0">
            <a:spAutoFit/>
          </a:bodyPr>
          <a:lstStyle/>
          <a:p>
            <a:pPr algn="l">
              <a:spcAft>
                <a:spcPts val="0"/>
              </a:spcAft>
            </a:pPr>
            <a:r>
              <a:rPr sz="2200" b="1">
                <a:solidFill>
                  <a:srgbClr val="FFFFFF"/>
                </a:solidFill>
                <a:latin typeface="Arial"/>
              </a:rPr>
              <a:t>What to do now: order 47 GDC parts, fix 42 late PO lines, and move 926 pieces of Compressor (SKU98) to PDC2</a:t>
            </a:r>
          </a:p>
        </p:txBody>
      </p:sp>
      <p:sp>
        <p:nvSpPr>
          <p:cNvPr id="7" name="TextBox 6"/>
          <p:cNvSpPr txBox="1"/>
          <p:nvPr/>
        </p:nvSpPr>
        <p:spPr>
          <a:xfrm>
            <a:off x="457200" y="6400800"/>
            <a:ext cx="9144000" cy="228600"/>
          </a:xfrm>
          <a:prstGeom prst="rect">
            <a:avLst/>
          </a:prstGeom>
          <a:noFill/>
        </p:spPr>
        <p:txBody>
          <a:bodyPr wrap="square" anchor="t" lIns="0" rIns="0" tIns="0" bIns="0">
            <a:spAutoFit/>
          </a:bodyPr>
          <a:lstStyle/>
          <a:p>
            <a:pPr algn="l">
              <a:spcAft>
                <a:spcPts val="600"/>
              </a:spcAft>
            </a:pPr>
            <a:r>
              <a:rPr sz="1000" b="0">
                <a:solidFill>
                  <a:srgbClr val="808080"/>
                </a:solidFill>
                <a:latin typeface="Arial"/>
              </a:rPr>
              <a:t>Service parts inventory health check  ·  snapshot Oct 22, 2026  ·  projected to Jan 31, 2027</a:t>
            </a:r>
          </a:p>
        </p:txBody>
      </p:sp>
      <p:sp>
        <p:nvSpPr>
          <p:cNvPr id="8" name="TextBox 7"/>
          <p:cNvSpPr txBox="1"/>
          <p:nvPr/>
        </p:nvSpPr>
        <p:spPr>
          <a:xfrm>
            <a:off x="10820095" y="6400800"/>
            <a:ext cx="914400" cy="228600"/>
          </a:xfrm>
          <a:prstGeom prst="rect">
            <a:avLst/>
          </a:prstGeom>
          <a:noFill/>
        </p:spPr>
        <p:txBody>
          <a:bodyPr wrap="square" anchor="t" lIns="0" rIns="0" tIns="0" bIns="0">
            <a:spAutoFit/>
          </a:bodyPr>
          <a:lstStyle/>
          <a:p>
            <a:pPr algn="r">
              <a:spcAft>
                <a:spcPts val="600"/>
              </a:spcAft>
            </a:pPr>
            <a:r>
              <a:rPr sz="1000" b="0">
                <a:solidFill>
                  <a:srgbClr val="808080"/>
                </a:solidFill>
                <a:latin typeface="Arial"/>
              </a:rPr>
              <a:t>3</a:t>
            </a:r>
          </a:p>
        </p:txBody>
      </p:sp>
      <p:sp>
        <p:nvSpPr>
          <p:cNvPr id="9" name="Rounded Rectangle 8"/>
          <p:cNvSpPr/>
          <p:nvPr/>
        </p:nvSpPr>
        <p:spPr>
          <a:xfrm>
            <a:off x="457200" y="1965960"/>
            <a:ext cx="11277295" cy="978408"/>
          </a:xfrm>
          <a:prstGeom prst="roundRect">
            <a:avLst>
              <a:gd name="adj" fmla="val 11214"/>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04088" y="2240279"/>
            <a:ext cx="420624" cy="420624"/>
          </a:xfrm>
          <a:prstGeom prst="ellipse">
            <a:avLst/>
          </a:prstGeom>
          <a:solidFill>
            <a:srgbClr val="FFFFFF"/>
          </a:solidFill>
          <a:ln w="19050">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CC0000"/>
                </a:solidFill>
                <a:latin typeface="Arial"/>
              </a:rPr>
              <a:t>1</a:t>
            </a:r>
          </a:p>
        </p:txBody>
      </p:sp>
      <p:sp>
        <p:nvSpPr>
          <p:cNvPr id="11" name="TextBox 10"/>
          <p:cNvSpPr txBox="1"/>
          <p:nvPr/>
        </p:nvSpPr>
        <p:spPr>
          <a:xfrm>
            <a:off x="1325880" y="2093976"/>
            <a:ext cx="8092440" cy="292608"/>
          </a:xfrm>
          <a:prstGeom prst="rect">
            <a:avLst/>
          </a:prstGeom>
          <a:noFill/>
        </p:spPr>
        <p:txBody>
          <a:bodyPr wrap="square" anchor="t" lIns="0" rIns="0" tIns="0" bIns="0">
            <a:spAutoFit/>
          </a:bodyPr>
          <a:lstStyle/>
          <a:p>
            <a:pPr algn="l">
              <a:spcAft>
                <a:spcPts val="0"/>
              </a:spcAft>
            </a:pPr>
            <a:r>
              <a:rPr sz="1600" b="1">
                <a:solidFill>
                  <a:srgbClr val="222222"/>
                </a:solidFill>
                <a:latin typeface="Arial"/>
              </a:rPr>
              <a:t>Order now for the GDC parts that run out with no PO coming</a:t>
            </a:r>
          </a:p>
        </p:txBody>
      </p:sp>
      <p:sp>
        <p:nvSpPr>
          <p:cNvPr id="12" name="TextBox 11"/>
          <p:cNvSpPr txBox="1"/>
          <p:nvPr/>
        </p:nvSpPr>
        <p:spPr>
          <a:xfrm>
            <a:off x="1325880" y="2404872"/>
            <a:ext cx="8092440" cy="502920"/>
          </a:xfrm>
          <a:prstGeom prst="rect">
            <a:avLst/>
          </a:prstGeom>
          <a:noFill/>
        </p:spPr>
        <p:txBody>
          <a:bodyPr wrap="square" anchor="t" lIns="0" rIns="0" tIns="0" bIns="0">
            <a:spAutoFit/>
          </a:bodyPr>
          <a:lstStyle/>
          <a:p>
            <a:pPr algn="l">
              <a:spcAft>
                <a:spcPts val="0"/>
              </a:spcAft>
            </a:pPr>
            <a:r>
              <a:rPr sz="1400" b="0">
                <a:solidFill>
                  <a:srgbClr val="222222"/>
                </a:solidFill>
                <a:latin typeface="Arial"/>
              </a:rPr>
              <a:t>No open PO lands after they run out, and 25 run out before December. Largest gaps: Flange Nut Gen2 (SKU75), Clip Kit LH (SKU26) and Bolt M8 LH (SKU2).</a:t>
            </a:r>
          </a:p>
        </p:txBody>
      </p:sp>
      <p:sp>
        <p:nvSpPr>
          <p:cNvPr id="13" name="Rectangle 12"/>
          <p:cNvSpPr/>
          <p:nvPr/>
        </p:nvSpPr>
        <p:spPr>
          <a:xfrm>
            <a:off x="9601200" y="2148840"/>
            <a:ext cx="13716" cy="612648"/>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29800" y="2075688"/>
            <a:ext cx="1783080" cy="438912"/>
          </a:xfrm>
          <a:prstGeom prst="rect">
            <a:avLst/>
          </a:prstGeom>
          <a:noFill/>
        </p:spPr>
        <p:txBody>
          <a:bodyPr wrap="square" anchor="t" lIns="0" rIns="0" tIns="0" bIns="0">
            <a:spAutoFit/>
          </a:bodyPr>
          <a:lstStyle/>
          <a:p>
            <a:pPr algn="l">
              <a:spcAft>
                <a:spcPts val="0"/>
              </a:spcAft>
            </a:pPr>
            <a:r>
              <a:rPr sz="2800" b="1">
                <a:solidFill>
                  <a:srgbClr val="222222"/>
                </a:solidFill>
                <a:latin typeface="Arial"/>
              </a:rPr>
              <a:t>47</a:t>
            </a:r>
          </a:p>
        </p:txBody>
      </p:sp>
      <p:sp>
        <p:nvSpPr>
          <p:cNvPr id="15" name="TextBox 14"/>
          <p:cNvSpPr txBox="1"/>
          <p:nvPr/>
        </p:nvSpPr>
        <p:spPr>
          <a:xfrm>
            <a:off x="9829800" y="2514600"/>
            <a:ext cx="1783080" cy="384048"/>
          </a:xfrm>
          <a:prstGeom prst="rect">
            <a:avLst/>
          </a:prstGeom>
          <a:noFill/>
        </p:spPr>
        <p:txBody>
          <a:bodyPr wrap="square" anchor="t" lIns="0" rIns="0" tIns="0" bIns="0">
            <a:spAutoFit/>
          </a:bodyPr>
          <a:lstStyle/>
          <a:p>
            <a:pPr algn="l">
              <a:spcAft>
                <a:spcPts val="0"/>
              </a:spcAft>
            </a:pPr>
            <a:r>
              <a:rPr sz="1200" b="0">
                <a:solidFill>
                  <a:srgbClr val="52514E"/>
                </a:solidFill>
                <a:latin typeface="Arial"/>
              </a:rPr>
              <a:t>parts, +6 to expedite</a:t>
            </a:r>
          </a:p>
        </p:txBody>
      </p:sp>
      <p:sp>
        <p:nvSpPr>
          <p:cNvPr id="16" name="Rounded Rectangle 15"/>
          <p:cNvSpPr/>
          <p:nvPr/>
        </p:nvSpPr>
        <p:spPr>
          <a:xfrm>
            <a:off x="457200" y="3218688"/>
            <a:ext cx="11277295" cy="978408"/>
          </a:xfrm>
          <a:prstGeom prst="roundRect">
            <a:avLst>
              <a:gd name="adj" fmla="val 11214"/>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04088" y="3493008"/>
            <a:ext cx="420624" cy="420624"/>
          </a:xfrm>
          <a:prstGeom prst="ellipse">
            <a:avLst/>
          </a:prstGeom>
          <a:solidFill>
            <a:srgbClr val="FFFFFF"/>
          </a:solidFill>
          <a:ln w="19050">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CC0000"/>
                </a:solidFill>
                <a:latin typeface="Arial"/>
              </a:rPr>
              <a:t>2</a:t>
            </a:r>
          </a:p>
        </p:txBody>
      </p:sp>
      <p:sp>
        <p:nvSpPr>
          <p:cNvPr id="18" name="TextBox 17"/>
          <p:cNvSpPr txBox="1"/>
          <p:nvPr/>
        </p:nvSpPr>
        <p:spPr>
          <a:xfrm>
            <a:off x="1325880" y="3346704"/>
            <a:ext cx="8092440" cy="292608"/>
          </a:xfrm>
          <a:prstGeom prst="rect">
            <a:avLst/>
          </a:prstGeom>
          <a:noFill/>
        </p:spPr>
        <p:txBody>
          <a:bodyPr wrap="square" anchor="t" lIns="0" rIns="0" tIns="0" bIns="0">
            <a:spAutoFit/>
          </a:bodyPr>
          <a:lstStyle/>
          <a:p>
            <a:pPr algn="l">
              <a:spcAft>
                <a:spcPts val="0"/>
              </a:spcAft>
            </a:pPr>
            <a:r>
              <a:rPr sz="1600" b="1">
                <a:solidFill>
                  <a:srgbClr val="222222"/>
                </a:solidFill>
                <a:latin typeface="Arial"/>
              </a:rPr>
              <a:t>Fix the PO lines that land too late</a:t>
            </a:r>
          </a:p>
        </p:txBody>
      </p:sp>
      <p:sp>
        <p:nvSpPr>
          <p:cNvPr id="19" name="TextBox 18"/>
          <p:cNvSpPr txBox="1"/>
          <p:nvPr/>
        </p:nvSpPr>
        <p:spPr>
          <a:xfrm>
            <a:off x="1325880" y="3657600"/>
            <a:ext cx="8092440" cy="502920"/>
          </a:xfrm>
          <a:prstGeom prst="rect">
            <a:avLst/>
          </a:prstGeom>
          <a:noFill/>
        </p:spPr>
        <p:txBody>
          <a:bodyPr wrap="square" anchor="t" lIns="0" rIns="0" tIns="0" bIns="0">
            <a:spAutoFit/>
          </a:bodyPr>
          <a:lstStyle/>
          <a:p>
            <a:pPr algn="l">
              <a:spcAft>
                <a:spcPts val="0"/>
              </a:spcAft>
            </a:pPr>
            <a:r>
              <a:rPr sz="1400" b="0">
                <a:solidFill>
                  <a:srgbClr val="222222"/>
                </a:solidFill>
                <a:latin typeface="Arial"/>
              </a:rPr>
              <a:t>They land after the site has already run out. Expedite the 23 supplier POs, and bridge the 19 transfers already on the road with stock from another site.</a:t>
            </a:r>
          </a:p>
        </p:txBody>
      </p:sp>
      <p:sp>
        <p:nvSpPr>
          <p:cNvPr id="20" name="Rectangle 19"/>
          <p:cNvSpPr/>
          <p:nvPr/>
        </p:nvSpPr>
        <p:spPr>
          <a:xfrm>
            <a:off x="9601200" y="3401568"/>
            <a:ext cx="13716" cy="612648"/>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29800" y="3328416"/>
            <a:ext cx="1783080" cy="438912"/>
          </a:xfrm>
          <a:prstGeom prst="rect">
            <a:avLst/>
          </a:prstGeom>
          <a:noFill/>
        </p:spPr>
        <p:txBody>
          <a:bodyPr wrap="square" anchor="t" lIns="0" rIns="0" tIns="0" bIns="0">
            <a:spAutoFit/>
          </a:bodyPr>
          <a:lstStyle/>
          <a:p>
            <a:pPr algn="l">
              <a:spcAft>
                <a:spcPts val="0"/>
              </a:spcAft>
            </a:pPr>
            <a:r>
              <a:rPr sz="2800" b="1">
                <a:solidFill>
                  <a:srgbClr val="222222"/>
                </a:solidFill>
                <a:latin typeface="Arial"/>
              </a:rPr>
              <a:t>42</a:t>
            </a:r>
          </a:p>
        </p:txBody>
      </p:sp>
      <p:sp>
        <p:nvSpPr>
          <p:cNvPr id="22" name="TextBox 21"/>
          <p:cNvSpPr txBox="1"/>
          <p:nvPr/>
        </p:nvSpPr>
        <p:spPr>
          <a:xfrm>
            <a:off x="9829800" y="3767328"/>
            <a:ext cx="1783080" cy="384048"/>
          </a:xfrm>
          <a:prstGeom prst="rect">
            <a:avLst/>
          </a:prstGeom>
          <a:noFill/>
        </p:spPr>
        <p:txBody>
          <a:bodyPr wrap="square" anchor="t" lIns="0" rIns="0" tIns="0" bIns="0">
            <a:spAutoFit/>
          </a:bodyPr>
          <a:lstStyle/>
          <a:p>
            <a:pPr algn="l">
              <a:spcAft>
                <a:spcPts val="0"/>
              </a:spcAft>
            </a:pPr>
            <a:r>
              <a:rPr sz="1200" b="0">
                <a:solidFill>
                  <a:srgbClr val="52514E"/>
                </a:solidFill>
                <a:latin typeface="Arial"/>
              </a:rPr>
              <a:t>PO lines</a:t>
            </a:r>
          </a:p>
        </p:txBody>
      </p:sp>
      <p:sp>
        <p:nvSpPr>
          <p:cNvPr id="23" name="Rounded Rectangle 22"/>
          <p:cNvSpPr/>
          <p:nvPr/>
        </p:nvSpPr>
        <p:spPr>
          <a:xfrm>
            <a:off x="457200" y="4471416"/>
            <a:ext cx="11277295" cy="978408"/>
          </a:xfrm>
          <a:prstGeom prst="roundRect">
            <a:avLst>
              <a:gd name="adj" fmla="val 11214"/>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04088" y="4745736"/>
            <a:ext cx="420624" cy="420624"/>
          </a:xfrm>
          <a:prstGeom prst="ellipse">
            <a:avLst/>
          </a:prstGeom>
          <a:solidFill>
            <a:srgbClr val="FFFFFF"/>
          </a:solidFill>
          <a:ln w="19050">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CC0000"/>
                </a:solidFill>
                <a:latin typeface="Arial"/>
              </a:rPr>
              <a:t>3</a:t>
            </a:r>
          </a:p>
        </p:txBody>
      </p:sp>
      <p:sp>
        <p:nvSpPr>
          <p:cNvPr id="25" name="TextBox 24"/>
          <p:cNvSpPr txBox="1"/>
          <p:nvPr/>
        </p:nvSpPr>
        <p:spPr>
          <a:xfrm>
            <a:off x="1325880" y="4599432"/>
            <a:ext cx="8092440" cy="292608"/>
          </a:xfrm>
          <a:prstGeom prst="rect">
            <a:avLst/>
          </a:prstGeom>
          <a:noFill/>
        </p:spPr>
        <p:txBody>
          <a:bodyPr wrap="square" anchor="t" lIns="0" rIns="0" tIns="0" bIns="0">
            <a:spAutoFit/>
          </a:bodyPr>
          <a:lstStyle/>
          <a:p>
            <a:pPr algn="l">
              <a:spcAft>
                <a:spcPts val="0"/>
              </a:spcAft>
            </a:pPr>
            <a:r>
              <a:rPr sz="1600" b="1">
                <a:solidFill>
                  <a:srgbClr val="222222"/>
                </a:solidFill>
                <a:latin typeface="Arial"/>
              </a:rPr>
              <a:t>Move 926 pieces of Compressor (SKU98) from the GDC to PDC2</a:t>
            </a:r>
          </a:p>
        </p:txBody>
      </p:sp>
      <p:sp>
        <p:nvSpPr>
          <p:cNvPr id="26" name="TextBox 25"/>
          <p:cNvSpPr txBox="1"/>
          <p:nvPr/>
        </p:nvSpPr>
        <p:spPr>
          <a:xfrm>
            <a:off x="1325880" y="4910328"/>
            <a:ext cx="8092440" cy="502920"/>
          </a:xfrm>
          <a:prstGeom prst="rect">
            <a:avLst/>
          </a:prstGeom>
          <a:noFill/>
        </p:spPr>
        <p:txBody>
          <a:bodyPr wrap="square" anchor="t" lIns="0" rIns="0" tIns="0" bIns="0">
            <a:spAutoFit/>
          </a:bodyPr>
          <a:lstStyle/>
          <a:p>
            <a:pPr algn="l">
              <a:spcAft>
                <a:spcPts val="0"/>
              </a:spcAft>
            </a:pPr>
            <a:r>
              <a:rPr sz="1400" b="0">
                <a:solidFill>
                  <a:srgbClr val="222222"/>
                </a:solidFill>
                <a:latin typeface="Arial"/>
              </a:rPr>
              <a:t>PDC2 is out all 102 days to Jan 31 and still 1,063 short after PO1022 lands. The GDC's stock is PDC2's Feb to Apr restock held early, so order for the GDC too.</a:t>
            </a:r>
          </a:p>
        </p:txBody>
      </p:sp>
      <p:sp>
        <p:nvSpPr>
          <p:cNvPr id="27" name="Rectangle 26"/>
          <p:cNvSpPr/>
          <p:nvPr/>
        </p:nvSpPr>
        <p:spPr>
          <a:xfrm>
            <a:off x="9601200" y="4654296"/>
            <a:ext cx="13716" cy="612648"/>
          </a:xfrm>
          <a:prstGeom prst="rect">
            <a:avLst/>
          </a:prstGeom>
          <a:solidFill>
            <a:srgbClr val="E0E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29800" y="4581144"/>
            <a:ext cx="1783080" cy="438912"/>
          </a:xfrm>
          <a:prstGeom prst="rect">
            <a:avLst/>
          </a:prstGeom>
          <a:noFill/>
        </p:spPr>
        <p:txBody>
          <a:bodyPr wrap="square" anchor="t" lIns="0" rIns="0" tIns="0" bIns="0">
            <a:spAutoFit/>
          </a:bodyPr>
          <a:lstStyle/>
          <a:p>
            <a:pPr algn="l">
              <a:spcAft>
                <a:spcPts val="0"/>
              </a:spcAft>
            </a:pPr>
            <a:r>
              <a:rPr sz="2800" b="1">
                <a:solidFill>
                  <a:srgbClr val="222222"/>
                </a:solidFill>
                <a:latin typeface="Arial"/>
              </a:rPr>
              <a:t>926</a:t>
            </a:r>
          </a:p>
        </p:txBody>
      </p:sp>
      <p:sp>
        <p:nvSpPr>
          <p:cNvPr id="29" name="TextBox 28"/>
          <p:cNvSpPr txBox="1"/>
          <p:nvPr/>
        </p:nvSpPr>
        <p:spPr>
          <a:xfrm>
            <a:off x="9829800" y="5020056"/>
            <a:ext cx="1783080" cy="384048"/>
          </a:xfrm>
          <a:prstGeom prst="rect">
            <a:avLst/>
          </a:prstGeom>
          <a:noFill/>
        </p:spPr>
        <p:txBody>
          <a:bodyPr wrap="square" anchor="t" lIns="0" rIns="0" tIns="0" bIns="0">
            <a:spAutoFit/>
          </a:bodyPr>
          <a:lstStyle/>
          <a:p>
            <a:pPr algn="l">
              <a:spcAft>
                <a:spcPts val="0"/>
              </a:spcAft>
            </a:pPr>
            <a:r>
              <a:rPr sz="1200" b="0">
                <a:solidFill>
                  <a:srgbClr val="52514E"/>
                </a:solidFill>
                <a:latin typeface="Arial"/>
              </a:rPr>
              <a:t>pieces, 116 pallets</a:t>
            </a:r>
          </a:p>
        </p:txBody>
      </p:sp>
      <p:pic>
        <p:nvPicPr>
          <p:cNvPr id="30" name="Picture 29" descr="image.png"/>
          <p:cNvPicPr>
            <a:picLocks noChangeAspect="1"/>
          </p:cNvPicPr>
          <p:nvPr/>
        </p:nvPicPr>
        <p:blipFill>
          <a:blip r:embed="rId4"/>
          <a:stretch>
            <a:fillRect/>
          </a:stretch>
        </p:blipFill>
        <p:spPr>
          <a:xfrm>
            <a:off x="502920" y="5705856"/>
            <a:ext cx="219456" cy="219456"/>
          </a:xfrm>
          <a:prstGeom prst="rect">
            <a:avLst/>
          </a:prstGeom>
        </p:spPr>
      </p:pic>
      <p:sp>
        <p:nvSpPr>
          <p:cNvPr id="31" name="TextBox 30"/>
          <p:cNvSpPr txBox="1"/>
          <p:nvPr/>
        </p:nvSpPr>
        <p:spPr>
          <a:xfrm>
            <a:off x="841247" y="5678424"/>
            <a:ext cx="10893247" cy="548640"/>
          </a:xfrm>
          <a:prstGeom prst="rect">
            <a:avLst/>
          </a:prstGeom>
          <a:noFill/>
        </p:spPr>
        <p:txBody>
          <a:bodyPr wrap="square" anchor="t" lIns="0" rIns="0" tIns="0" bIns="0">
            <a:spAutoFit/>
          </a:bodyPr>
          <a:lstStyle/>
          <a:p>
            <a:pPr algn="l">
              <a:spcAft>
                <a:spcPts val="0"/>
              </a:spcAft>
            </a:pPr>
            <a:r>
              <a:rPr sz="1200" b="0">
                <a:solidFill>
                  <a:srgbClr val="52514E"/>
                </a:solidFill>
                <a:latin typeface="Arial"/>
              </a:rPr>
              <a:t>The workbook's stock_moves sheet lists 47 more candidate moves (1,367 pieces). 35 go against the usual GDC to PDC flow and 13 are under 5 pieces, so check each one before moving stock.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ounded Rectangle 1"/>
          <p:cNvSpPr/>
          <p:nvPr/>
        </p:nvSpPr>
        <p:spPr>
          <a:xfrm>
            <a:off x="457200" y="365760"/>
            <a:ext cx="11277295" cy="1371600"/>
          </a:xfrm>
          <a:prstGeom prst="roundRect">
            <a:avLst>
              <a:gd name="adj" fmla="val 12000"/>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658368"/>
            <a:ext cx="603504" cy="603504"/>
          </a:xfrm>
          <a:prstGeom prst="roundRect">
            <a:avLst>
              <a:gd name="adj" fmla="val 28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852220" y="779068"/>
            <a:ext cx="362102" cy="362102"/>
          </a:xfrm>
          <a:prstGeom prst="rect">
            <a:avLst/>
          </a:prstGeom>
        </p:spPr>
      </p:pic>
      <p:sp>
        <p:nvSpPr>
          <p:cNvPr id="5" name="Rounded Rectangle 4"/>
          <p:cNvSpPr/>
          <p:nvPr/>
        </p:nvSpPr>
        <p:spPr>
          <a:xfrm>
            <a:off x="1554480" y="566928"/>
            <a:ext cx="2139696" cy="246888"/>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Arial"/>
              </a:rPr>
              <a:t>STOCK IN THE WRONG PLACE</a:t>
            </a:r>
          </a:p>
        </p:txBody>
      </p:sp>
      <p:sp>
        <p:nvSpPr>
          <p:cNvPr id="6" name="TextBox 5"/>
          <p:cNvSpPr txBox="1"/>
          <p:nvPr/>
        </p:nvSpPr>
        <p:spPr>
          <a:xfrm>
            <a:off x="1554480" y="896112"/>
            <a:ext cx="9905695" cy="713232"/>
          </a:xfrm>
          <a:prstGeom prst="rect">
            <a:avLst/>
          </a:prstGeom>
          <a:noFill/>
        </p:spPr>
        <p:txBody>
          <a:bodyPr wrap="square" anchor="ctr" lIns="0" rIns="0" tIns="0" bIns="0">
            <a:spAutoFit/>
          </a:bodyPr>
          <a:lstStyle/>
          <a:p>
            <a:pPr algn="l">
              <a:spcAft>
                <a:spcPts val="0"/>
              </a:spcAft>
            </a:pPr>
            <a:r>
              <a:rPr sz="2200" b="1">
                <a:solidFill>
                  <a:srgbClr val="FFFFFF"/>
                </a:solidFill>
                <a:latin typeface="Arial"/>
              </a:rPr>
              <a:t>Too much stock in the wrong place: 1,168 pallets above 26 weeks (862 at the GDC) and 658 with no demand on site</a:t>
            </a:r>
          </a:p>
        </p:txBody>
      </p:sp>
      <p:sp>
        <p:nvSpPr>
          <p:cNvPr id="7" name="TextBox 6"/>
          <p:cNvSpPr txBox="1"/>
          <p:nvPr/>
        </p:nvSpPr>
        <p:spPr>
          <a:xfrm>
            <a:off x="457200" y="6400800"/>
            <a:ext cx="9144000" cy="228600"/>
          </a:xfrm>
          <a:prstGeom prst="rect">
            <a:avLst/>
          </a:prstGeom>
          <a:noFill/>
        </p:spPr>
        <p:txBody>
          <a:bodyPr wrap="square" anchor="t" lIns="0" rIns="0" tIns="0" bIns="0">
            <a:spAutoFit/>
          </a:bodyPr>
          <a:lstStyle/>
          <a:p>
            <a:pPr algn="l">
              <a:spcAft>
                <a:spcPts val="600"/>
              </a:spcAft>
            </a:pPr>
            <a:r>
              <a:rPr sz="1000" b="0">
                <a:solidFill>
                  <a:srgbClr val="808080"/>
                </a:solidFill>
                <a:latin typeface="Arial"/>
              </a:rPr>
              <a:t>Service parts inventory health check  ·  snapshot Oct 22, 2026  ·  projected to Jan 31, 2027</a:t>
            </a:r>
          </a:p>
        </p:txBody>
      </p:sp>
      <p:sp>
        <p:nvSpPr>
          <p:cNvPr id="8" name="TextBox 7"/>
          <p:cNvSpPr txBox="1"/>
          <p:nvPr/>
        </p:nvSpPr>
        <p:spPr>
          <a:xfrm>
            <a:off x="10820095" y="6400800"/>
            <a:ext cx="914400" cy="228600"/>
          </a:xfrm>
          <a:prstGeom prst="rect">
            <a:avLst/>
          </a:prstGeom>
          <a:noFill/>
        </p:spPr>
        <p:txBody>
          <a:bodyPr wrap="square" anchor="t" lIns="0" rIns="0" tIns="0" bIns="0">
            <a:spAutoFit/>
          </a:bodyPr>
          <a:lstStyle/>
          <a:p>
            <a:pPr algn="r">
              <a:spcAft>
                <a:spcPts val="600"/>
              </a:spcAft>
            </a:pPr>
            <a:r>
              <a:rPr sz="1000" b="0">
                <a:solidFill>
                  <a:srgbClr val="808080"/>
                </a:solidFill>
                <a:latin typeface="Arial"/>
              </a:rPr>
              <a:t>4</a:t>
            </a:r>
          </a:p>
        </p:txBody>
      </p:sp>
      <p:sp>
        <p:nvSpPr>
          <p:cNvPr id="9" name="Rounded Rectangle 8"/>
          <p:cNvSpPr/>
          <p:nvPr/>
        </p:nvSpPr>
        <p:spPr>
          <a:xfrm>
            <a:off x="457200" y="1965960"/>
            <a:ext cx="11277295" cy="2212848"/>
          </a:xfrm>
          <a:prstGeom prst="roundRect">
            <a:avLst>
              <a:gd name="adj" fmla="val 4958"/>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167128"/>
            <a:ext cx="7680960" cy="274320"/>
          </a:xfrm>
          <a:prstGeom prst="rect">
            <a:avLst/>
          </a:prstGeom>
          <a:noFill/>
        </p:spPr>
        <p:txBody>
          <a:bodyPr wrap="square" anchor="t" lIns="0" rIns="0" tIns="0" bIns="0">
            <a:spAutoFit/>
          </a:bodyPr>
          <a:lstStyle/>
          <a:p>
            <a:pPr algn="l">
              <a:spcAft>
                <a:spcPts val="0"/>
              </a:spcAft>
            </a:pPr>
            <a:r>
              <a:rPr sz="1400" b="1">
                <a:solidFill>
                  <a:srgbClr val="222222"/>
                </a:solidFill>
                <a:latin typeface="Arial"/>
              </a:rPr>
              <a:t>Pallets tied up at each site (pallet equivalents: pieces ÷ pieces per pallet)</a:t>
            </a:r>
          </a:p>
        </p:txBody>
      </p:sp>
      <p:graphicFrame>
        <p:nvGraphicFramePr>
          <p:cNvPr id="11" name="Chart 10"/>
          <p:cNvGraphicFramePr>
            <a:graphicFrameLocks noGrp="1"/>
          </p:cNvGraphicFramePr>
          <p:nvPr/>
        </p:nvGraphicFramePr>
        <p:xfrm>
          <a:off x="594360" y="2423160"/>
          <a:ext cx="7726679" cy="1719072"/>
        </p:xfrm>
        <a:graphic>
          <a:graphicData uri="http://schemas.openxmlformats.org/drawingml/2006/chart">
            <c:chart xmlns:c="http://schemas.openxmlformats.org/drawingml/2006/chart" r:id="rId4"/>
          </a:graphicData>
        </a:graphic>
      </p:graphicFrame>
      <p:pic>
        <p:nvPicPr>
          <p:cNvPr id="12" name="Picture 11" descr="image.png"/>
          <p:cNvPicPr>
            <a:picLocks noChangeAspect="1"/>
          </p:cNvPicPr>
          <p:nvPr/>
        </p:nvPicPr>
        <p:blipFill>
          <a:blip r:embed="rId5"/>
          <a:stretch>
            <a:fillRect/>
          </a:stretch>
        </p:blipFill>
        <p:spPr>
          <a:xfrm>
            <a:off x="8641080" y="2487168"/>
            <a:ext cx="219456" cy="219456"/>
          </a:xfrm>
          <a:prstGeom prst="rect">
            <a:avLst/>
          </a:prstGeom>
        </p:spPr>
      </p:pic>
      <p:sp>
        <p:nvSpPr>
          <p:cNvPr id="13" name="TextBox 12"/>
          <p:cNvSpPr txBox="1"/>
          <p:nvPr/>
        </p:nvSpPr>
        <p:spPr>
          <a:xfrm>
            <a:off x="8970263" y="2468880"/>
            <a:ext cx="2505456" cy="822960"/>
          </a:xfrm>
          <a:prstGeom prst="rect">
            <a:avLst/>
          </a:prstGeom>
          <a:noFill/>
        </p:spPr>
        <p:txBody>
          <a:bodyPr wrap="square" anchor="t" lIns="0" rIns="0" tIns="0" bIns="0">
            <a:spAutoFit/>
          </a:bodyPr>
          <a:lstStyle/>
          <a:p>
            <a:pPr algn="l">
              <a:spcAft>
                <a:spcPts val="0"/>
              </a:spcAft>
            </a:pPr>
            <a:r>
              <a:rPr sz="1200" b="0">
                <a:solidFill>
                  <a:srgbClr val="52514E"/>
                </a:solidFill>
                <a:latin typeface="Arial"/>
              </a:rPr>
              <a:t>Not shown: SKU901, SKU902, SKU903, missing from the part master, so no pallet size (155 pieces on hand, 60 incoming).</a:t>
            </a:r>
          </a:p>
        </p:txBody>
      </p:sp>
      <p:pic>
        <p:nvPicPr>
          <p:cNvPr id="14" name="Picture 13" descr="image.png"/>
          <p:cNvPicPr>
            <a:picLocks noChangeAspect="1"/>
          </p:cNvPicPr>
          <p:nvPr/>
        </p:nvPicPr>
        <p:blipFill>
          <a:blip r:embed="rId5"/>
          <a:stretch>
            <a:fillRect/>
          </a:stretch>
        </p:blipFill>
        <p:spPr>
          <a:xfrm>
            <a:off x="8641080" y="3355848"/>
            <a:ext cx="219456" cy="219456"/>
          </a:xfrm>
          <a:prstGeom prst="rect">
            <a:avLst/>
          </a:prstGeom>
        </p:spPr>
      </p:pic>
      <p:sp>
        <p:nvSpPr>
          <p:cNvPr id="15" name="TextBox 14"/>
          <p:cNvSpPr txBox="1"/>
          <p:nvPr/>
        </p:nvSpPr>
        <p:spPr>
          <a:xfrm>
            <a:off x="8970263" y="3337560"/>
            <a:ext cx="2505456" cy="822960"/>
          </a:xfrm>
          <a:prstGeom prst="rect">
            <a:avLst/>
          </a:prstGeom>
          <a:noFill/>
        </p:spPr>
        <p:txBody>
          <a:bodyPr wrap="square" anchor="t" lIns="0" rIns="0" tIns="0" bIns="0">
            <a:spAutoFit/>
          </a:bodyPr>
          <a:lstStyle/>
          <a:p>
            <a:pPr algn="l">
              <a:spcAft>
                <a:spcPts val="0"/>
              </a:spcAft>
            </a:pPr>
            <a:r>
              <a:rPr sz="1200" b="0">
                <a:solidFill>
                  <a:srgbClr val="52514E"/>
                </a:solidFill>
                <a:latin typeface="Arial"/>
              </a:rPr>
              <a:t>Don't cut the GDC's Compressor (SKU98): its Excess is PDC2's Feb to Apr restock, held early.</a:t>
            </a:r>
          </a:p>
        </p:txBody>
      </p:sp>
      <p:sp>
        <p:nvSpPr>
          <p:cNvPr id="16" name="Rounded Rectangle 15"/>
          <p:cNvSpPr/>
          <p:nvPr/>
        </p:nvSpPr>
        <p:spPr>
          <a:xfrm>
            <a:off x="457200" y="4343400"/>
            <a:ext cx="3649370" cy="1874519"/>
          </a:xfrm>
          <a:prstGeom prst="roundRect">
            <a:avLst>
              <a:gd name="adj" fmla="val 5853"/>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85800" y="4544568"/>
            <a:ext cx="384048" cy="384048"/>
          </a:xfrm>
          <a:prstGeom prst="roundRect">
            <a:avLst>
              <a:gd name="adj" fmla="val 28000"/>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png"/>
          <p:cNvPicPr>
            <a:picLocks noChangeAspect="1"/>
          </p:cNvPicPr>
          <p:nvPr/>
        </p:nvPicPr>
        <p:blipFill>
          <a:blip r:embed="rId6"/>
          <a:stretch>
            <a:fillRect/>
          </a:stretch>
        </p:blipFill>
        <p:spPr>
          <a:xfrm>
            <a:off x="762609" y="4621377"/>
            <a:ext cx="230428" cy="230428"/>
          </a:xfrm>
          <a:prstGeom prst="rect">
            <a:avLst/>
          </a:prstGeom>
        </p:spPr>
      </p:pic>
      <p:sp>
        <p:nvSpPr>
          <p:cNvPr id="19" name="TextBox 18"/>
          <p:cNvSpPr txBox="1"/>
          <p:nvPr/>
        </p:nvSpPr>
        <p:spPr>
          <a:xfrm>
            <a:off x="1207007" y="4544568"/>
            <a:ext cx="2734970" cy="384048"/>
          </a:xfrm>
          <a:prstGeom prst="rect">
            <a:avLst/>
          </a:prstGeom>
          <a:noFill/>
        </p:spPr>
        <p:txBody>
          <a:bodyPr wrap="square" anchor="ctr" lIns="0" rIns="0" tIns="0" bIns="0">
            <a:spAutoFit/>
          </a:bodyPr>
          <a:lstStyle/>
          <a:p>
            <a:pPr algn="l">
              <a:spcAft>
                <a:spcPts val="0"/>
              </a:spcAft>
            </a:pPr>
            <a:r>
              <a:rPr sz="1500" b="1">
                <a:solidFill>
                  <a:srgbClr val="222222"/>
                </a:solidFill>
                <a:latin typeface="Arial"/>
              </a:rPr>
              <a:t>Stop adding to it</a:t>
            </a:r>
          </a:p>
        </p:txBody>
      </p:sp>
      <p:sp>
        <p:nvSpPr>
          <p:cNvPr id="20" name="TextBox 19"/>
          <p:cNvSpPr txBox="1"/>
          <p:nvPr/>
        </p:nvSpPr>
        <p:spPr>
          <a:xfrm>
            <a:off x="685800" y="5074920"/>
            <a:ext cx="3237890" cy="1097280"/>
          </a:xfrm>
          <a:prstGeom prst="rect">
            <a:avLst/>
          </a:prstGeom>
          <a:noFill/>
        </p:spPr>
        <p:txBody>
          <a:bodyPr wrap="square" anchor="t" lIns="0" rIns="0" tIns="0" bIns="0">
            <a:spAutoFit/>
          </a:bodyPr>
          <a:lstStyle/>
          <a:p>
            <a:pPr algn="l">
              <a:spcAft>
                <a:spcPts val="0"/>
              </a:spcAft>
            </a:pPr>
            <a:r>
              <a:rPr sz="1400" b="0">
                <a:solidFill>
                  <a:srgbClr val="222222"/>
                </a:solidFill>
                <a:latin typeface="Arial"/>
              </a:rPr>
              <a:t>19 open lines put 3,156 pieces above the 26-week line: push out or cut. Cancel the 6 lines (646 pieces) for parts with no demand.</a:t>
            </a:r>
          </a:p>
        </p:txBody>
      </p:sp>
      <p:sp>
        <p:nvSpPr>
          <p:cNvPr id="21" name="Rounded Rectangle 20"/>
          <p:cNvSpPr/>
          <p:nvPr/>
        </p:nvSpPr>
        <p:spPr>
          <a:xfrm>
            <a:off x="4271162" y="4343400"/>
            <a:ext cx="3649370" cy="1874519"/>
          </a:xfrm>
          <a:prstGeom prst="roundRect">
            <a:avLst>
              <a:gd name="adj" fmla="val 5853"/>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499762" y="4544568"/>
            <a:ext cx="384048" cy="384048"/>
          </a:xfrm>
          <a:prstGeom prst="roundRect">
            <a:avLst>
              <a:gd name="adj" fmla="val 28000"/>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image.png"/>
          <p:cNvPicPr>
            <a:picLocks noChangeAspect="1"/>
          </p:cNvPicPr>
          <p:nvPr/>
        </p:nvPicPr>
        <p:blipFill>
          <a:blip r:embed="rId7"/>
          <a:stretch>
            <a:fillRect/>
          </a:stretch>
        </p:blipFill>
        <p:spPr>
          <a:xfrm>
            <a:off x="4576571" y="4621377"/>
            <a:ext cx="230428" cy="230428"/>
          </a:xfrm>
          <a:prstGeom prst="rect">
            <a:avLst/>
          </a:prstGeom>
        </p:spPr>
      </p:pic>
      <p:sp>
        <p:nvSpPr>
          <p:cNvPr id="24" name="TextBox 23"/>
          <p:cNvSpPr txBox="1"/>
          <p:nvPr/>
        </p:nvSpPr>
        <p:spPr>
          <a:xfrm>
            <a:off x="5020970" y="4544568"/>
            <a:ext cx="2734970" cy="384048"/>
          </a:xfrm>
          <a:prstGeom prst="rect">
            <a:avLst/>
          </a:prstGeom>
          <a:noFill/>
        </p:spPr>
        <p:txBody>
          <a:bodyPr wrap="square" anchor="ctr" lIns="0" rIns="0" tIns="0" bIns="0">
            <a:spAutoFit/>
          </a:bodyPr>
          <a:lstStyle/>
          <a:p>
            <a:pPr algn="l">
              <a:spcAft>
                <a:spcPts val="0"/>
              </a:spcAft>
            </a:pPr>
            <a:r>
              <a:rPr sz="1500" b="1">
                <a:solidFill>
                  <a:srgbClr val="222222"/>
                </a:solidFill>
                <a:latin typeface="Arial"/>
              </a:rPr>
              <a:t>Dead stock</a:t>
            </a:r>
          </a:p>
        </p:txBody>
      </p:sp>
      <p:sp>
        <p:nvSpPr>
          <p:cNvPr id="25" name="TextBox 24"/>
          <p:cNvSpPr txBox="1"/>
          <p:nvPr/>
        </p:nvSpPr>
        <p:spPr>
          <a:xfrm>
            <a:off x="4499762" y="5074920"/>
            <a:ext cx="3237890" cy="1097280"/>
          </a:xfrm>
          <a:prstGeom prst="rect">
            <a:avLst/>
          </a:prstGeom>
          <a:noFill/>
        </p:spPr>
        <p:txBody>
          <a:bodyPr wrap="square" anchor="t" lIns="0" rIns="0" tIns="0" bIns="0">
            <a:spAutoFit/>
          </a:bodyPr>
          <a:lstStyle/>
          <a:p>
            <a:pPr algn="l">
              <a:spcAft>
                <a:spcPts val="0"/>
              </a:spcAft>
            </a:pPr>
            <a:r>
              <a:rPr sz="1400" b="0">
                <a:solidFill>
                  <a:srgbClr val="222222"/>
                </a:solidFill>
                <a:latin typeface="Arial"/>
              </a:rPr>
              <a:t>473 pallets in 25 pairs (12 parts) with no demand anywhere for 24 months. Review them for return or scrap.</a:t>
            </a:r>
          </a:p>
        </p:txBody>
      </p:sp>
      <p:sp>
        <p:nvSpPr>
          <p:cNvPr id="26" name="Rounded Rectangle 25"/>
          <p:cNvSpPr/>
          <p:nvPr/>
        </p:nvSpPr>
        <p:spPr>
          <a:xfrm>
            <a:off x="8085124" y="4343400"/>
            <a:ext cx="3649370" cy="1874519"/>
          </a:xfrm>
          <a:prstGeom prst="roundRect">
            <a:avLst>
              <a:gd name="adj" fmla="val 5853"/>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313724" y="4544568"/>
            <a:ext cx="384048" cy="384048"/>
          </a:xfrm>
          <a:prstGeom prst="roundRect">
            <a:avLst>
              <a:gd name="adj" fmla="val 28000"/>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image.png"/>
          <p:cNvPicPr>
            <a:picLocks noChangeAspect="1"/>
          </p:cNvPicPr>
          <p:nvPr/>
        </p:nvPicPr>
        <p:blipFill>
          <a:blip r:embed="rId8"/>
          <a:stretch>
            <a:fillRect/>
          </a:stretch>
        </p:blipFill>
        <p:spPr>
          <a:xfrm>
            <a:off x="8390534" y="4621377"/>
            <a:ext cx="230428" cy="230428"/>
          </a:xfrm>
          <a:prstGeom prst="rect">
            <a:avLst/>
          </a:prstGeom>
        </p:spPr>
      </p:pic>
      <p:sp>
        <p:nvSpPr>
          <p:cNvPr id="29" name="TextBox 28"/>
          <p:cNvSpPr txBox="1"/>
          <p:nvPr/>
        </p:nvSpPr>
        <p:spPr>
          <a:xfrm>
            <a:off x="8834932" y="4544568"/>
            <a:ext cx="2734970" cy="384048"/>
          </a:xfrm>
          <a:prstGeom prst="rect">
            <a:avLst/>
          </a:prstGeom>
          <a:noFill/>
        </p:spPr>
        <p:txBody>
          <a:bodyPr wrap="square" anchor="ctr" lIns="0" rIns="0" tIns="0" bIns="0">
            <a:spAutoFit/>
          </a:bodyPr>
          <a:lstStyle/>
          <a:p>
            <a:pPr algn="l">
              <a:spcAft>
                <a:spcPts val="0"/>
              </a:spcAft>
            </a:pPr>
            <a:r>
              <a:rPr sz="1500" b="1">
                <a:solidFill>
                  <a:srgbClr val="222222"/>
                </a:solidFill>
                <a:latin typeface="Arial"/>
              </a:rPr>
              <a:t>Wanted elsewhere</a:t>
            </a:r>
          </a:p>
        </p:txBody>
      </p:sp>
      <p:sp>
        <p:nvSpPr>
          <p:cNvPr id="30" name="TextBox 29"/>
          <p:cNvSpPr txBox="1"/>
          <p:nvPr/>
        </p:nvSpPr>
        <p:spPr>
          <a:xfrm>
            <a:off x="8313724" y="5074920"/>
            <a:ext cx="3237890" cy="1097280"/>
          </a:xfrm>
          <a:prstGeom prst="rect">
            <a:avLst/>
          </a:prstGeom>
          <a:noFill/>
        </p:spPr>
        <p:txBody>
          <a:bodyPr wrap="square" anchor="t" lIns="0" rIns="0" tIns="0" bIns="0">
            <a:spAutoFit/>
          </a:bodyPr>
          <a:lstStyle/>
          <a:p>
            <a:pPr algn="l">
              <a:spcAft>
                <a:spcPts val="0"/>
              </a:spcAft>
            </a:pPr>
            <a:r>
              <a:rPr sz="1400" b="0">
                <a:solidFill>
                  <a:srgbClr val="222222"/>
                </a:solidFill>
                <a:latin typeface="Arial"/>
              </a:rPr>
              <a:t>185 pallets in 12 pairs that sit where nobody buys them, while another site does. 6 are in the suggested moves.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ounded Rectangle 1"/>
          <p:cNvSpPr/>
          <p:nvPr/>
        </p:nvSpPr>
        <p:spPr>
          <a:xfrm>
            <a:off x="457200" y="365760"/>
            <a:ext cx="11277295" cy="1371600"/>
          </a:xfrm>
          <a:prstGeom prst="roundRect">
            <a:avLst>
              <a:gd name="adj" fmla="val 12000"/>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658368"/>
            <a:ext cx="603504" cy="603504"/>
          </a:xfrm>
          <a:prstGeom prst="roundRect">
            <a:avLst>
              <a:gd name="adj" fmla="val 28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852220" y="779068"/>
            <a:ext cx="362102" cy="362102"/>
          </a:xfrm>
          <a:prstGeom prst="rect">
            <a:avLst/>
          </a:prstGeom>
        </p:spPr>
      </p:pic>
      <p:sp>
        <p:nvSpPr>
          <p:cNvPr id="5" name="Rounded Rectangle 4"/>
          <p:cNvSpPr/>
          <p:nvPr/>
        </p:nvSpPr>
        <p:spPr>
          <a:xfrm>
            <a:off x="1554480" y="566928"/>
            <a:ext cx="1828800" cy="246888"/>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a:solidFill>
                  <a:srgbClr val="FFFFFF"/>
                </a:solidFill>
                <a:latin typeface="Arial"/>
              </a:rPr>
              <a:t>DATA ISSUES TO RAISE</a:t>
            </a:r>
          </a:p>
        </p:txBody>
      </p:sp>
      <p:sp>
        <p:nvSpPr>
          <p:cNvPr id="6" name="TextBox 5"/>
          <p:cNvSpPr txBox="1"/>
          <p:nvPr/>
        </p:nvSpPr>
        <p:spPr>
          <a:xfrm>
            <a:off x="1554480" y="896112"/>
            <a:ext cx="9905695" cy="713232"/>
          </a:xfrm>
          <a:prstGeom prst="rect">
            <a:avLst/>
          </a:prstGeom>
          <a:noFill/>
        </p:spPr>
        <p:txBody>
          <a:bodyPr wrap="square" anchor="ctr" lIns="0" rIns="0" tIns="0" bIns="0">
            <a:spAutoFit/>
          </a:bodyPr>
          <a:lstStyle/>
          <a:p>
            <a:pPr algn="l">
              <a:spcAft>
                <a:spcPts val="0"/>
              </a:spcAft>
            </a:pPr>
            <a:r>
              <a:rPr sz="2200" b="1">
                <a:solidFill>
                  <a:srgbClr val="FFFFFF"/>
                </a:solidFill>
                <a:latin typeface="Arial"/>
              </a:rPr>
              <a:t>Four data questions to settle before the next plan</a:t>
            </a:r>
          </a:p>
        </p:txBody>
      </p:sp>
      <p:sp>
        <p:nvSpPr>
          <p:cNvPr id="7" name="TextBox 6"/>
          <p:cNvSpPr txBox="1"/>
          <p:nvPr/>
        </p:nvSpPr>
        <p:spPr>
          <a:xfrm>
            <a:off x="457200" y="6400800"/>
            <a:ext cx="9144000" cy="228600"/>
          </a:xfrm>
          <a:prstGeom prst="rect">
            <a:avLst/>
          </a:prstGeom>
          <a:noFill/>
        </p:spPr>
        <p:txBody>
          <a:bodyPr wrap="square" anchor="t" lIns="0" rIns="0" tIns="0" bIns="0">
            <a:spAutoFit/>
          </a:bodyPr>
          <a:lstStyle/>
          <a:p>
            <a:pPr algn="l">
              <a:spcAft>
                <a:spcPts val="600"/>
              </a:spcAft>
            </a:pPr>
            <a:r>
              <a:rPr sz="1000" b="0">
                <a:solidFill>
                  <a:srgbClr val="808080"/>
                </a:solidFill>
                <a:latin typeface="Arial"/>
              </a:rPr>
              <a:t>Service parts inventory health check  ·  snapshot Oct 22, 2026  ·  projected to Jan 31, 2027</a:t>
            </a:r>
          </a:p>
        </p:txBody>
      </p:sp>
      <p:sp>
        <p:nvSpPr>
          <p:cNvPr id="8" name="TextBox 7"/>
          <p:cNvSpPr txBox="1"/>
          <p:nvPr/>
        </p:nvSpPr>
        <p:spPr>
          <a:xfrm>
            <a:off x="10820095" y="6400800"/>
            <a:ext cx="914400" cy="228600"/>
          </a:xfrm>
          <a:prstGeom prst="rect">
            <a:avLst/>
          </a:prstGeom>
          <a:noFill/>
        </p:spPr>
        <p:txBody>
          <a:bodyPr wrap="square" anchor="t" lIns="0" rIns="0" tIns="0" bIns="0">
            <a:spAutoFit/>
          </a:bodyPr>
          <a:lstStyle/>
          <a:p>
            <a:pPr algn="r">
              <a:spcAft>
                <a:spcPts val="600"/>
              </a:spcAft>
            </a:pPr>
            <a:r>
              <a:rPr sz="1000" b="0">
                <a:solidFill>
                  <a:srgbClr val="808080"/>
                </a:solidFill>
                <a:latin typeface="Arial"/>
              </a:rPr>
              <a:t>5</a:t>
            </a:r>
          </a:p>
        </p:txBody>
      </p:sp>
      <p:sp>
        <p:nvSpPr>
          <p:cNvPr id="9" name="Rounded Rectangle 8"/>
          <p:cNvSpPr/>
          <p:nvPr/>
        </p:nvSpPr>
        <p:spPr>
          <a:xfrm>
            <a:off x="457200" y="1965960"/>
            <a:ext cx="5556351" cy="1755648"/>
          </a:xfrm>
          <a:prstGeom prst="roundRect">
            <a:avLst>
              <a:gd name="adj" fmla="val 625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04088" y="2212848"/>
            <a:ext cx="457200" cy="457200"/>
          </a:xfrm>
          <a:prstGeom prst="roundRect">
            <a:avLst>
              <a:gd name="adj" fmla="val 28000"/>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mage.png"/>
          <p:cNvPicPr>
            <a:picLocks noChangeAspect="1"/>
          </p:cNvPicPr>
          <p:nvPr/>
        </p:nvPicPr>
        <p:blipFill>
          <a:blip r:embed="rId4"/>
          <a:stretch>
            <a:fillRect/>
          </a:stretch>
        </p:blipFill>
        <p:spPr>
          <a:xfrm>
            <a:off x="795528" y="2304288"/>
            <a:ext cx="274320" cy="274320"/>
          </a:xfrm>
          <a:prstGeom prst="rect">
            <a:avLst/>
          </a:prstGeom>
        </p:spPr>
      </p:pic>
      <p:sp>
        <p:nvSpPr>
          <p:cNvPr id="12" name="TextBox 11"/>
          <p:cNvSpPr txBox="1"/>
          <p:nvPr/>
        </p:nvSpPr>
        <p:spPr>
          <a:xfrm>
            <a:off x="1344168" y="2212848"/>
            <a:ext cx="4413351" cy="457200"/>
          </a:xfrm>
          <a:prstGeom prst="rect">
            <a:avLst/>
          </a:prstGeom>
          <a:noFill/>
        </p:spPr>
        <p:txBody>
          <a:bodyPr wrap="square" anchor="ctr" lIns="0" rIns="0" tIns="0" bIns="0">
            <a:spAutoFit/>
          </a:bodyPr>
          <a:lstStyle/>
          <a:p>
            <a:pPr algn="l">
              <a:spcAft>
                <a:spcPts val="0"/>
              </a:spcAft>
            </a:pPr>
            <a:r>
              <a:rPr sz="1600" b="1">
                <a:solidFill>
                  <a:srgbClr val="222222"/>
                </a:solidFill>
                <a:latin typeface="Arial"/>
              </a:rPr>
              <a:t>October restock is missing from the plan</a:t>
            </a:r>
          </a:p>
        </p:txBody>
      </p:sp>
      <p:sp>
        <p:nvSpPr>
          <p:cNvPr id="13" name="TextBox 12"/>
          <p:cNvSpPr txBox="1"/>
          <p:nvPr/>
        </p:nvSpPr>
        <p:spPr>
          <a:xfrm>
            <a:off x="1344168" y="2743200"/>
            <a:ext cx="4413351" cy="841247"/>
          </a:xfrm>
          <a:prstGeom prst="rect">
            <a:avLst/>
          </a:prstGeom>
          <a:noFill/>
        </p:spPr>
        <p:txBody>
          <a:bodyPr wrap="square" anchor="t" lIns="0" rIns="0" tIns="0" bIns="0">
            <a:spAutoFit/>
          </a:bodyPr>
          <a:lstStyle/>
          <a:p>
            <a:pPr algn="l">
              <a:spcAft>
                <a:spcPts val="0"/>
              </a:spcAft>
            </a:pPr>
            <a:r>
              <a:rPr sz="1400" b="0">
                <a:solidFill>
                  <a:srgbClr val="222222"/>
                </a:solidFill>
                <a:latin typeface="Arial"/>
              </a:rPr>
              <a:t>40 PDC pairs run out before the November restock while the GDC holds the part: 1,002 pieces short. Was October restock planned, or already shipped?</a:t>
            </a:r>
          </a:p>
        </p:txBody>
      </p:sp>
      <p:sp>
        <p:nvSpPr>
          <p:cNvPr id="14" name="Rounded Rectangle 13"/>
          <p:cNvSpPr/>
          <p:nvPr/>
        </p:nvSpPr>
        <p:spPr>
          <a:xfrm>
            <a:off x="6178143" y="1965960"/>
            <a:ext cx="5556351" cy="1755648"/>
          </a:xfrm>
          <a:prstGeom prst="roundRect">
            <a:avLst>
              <a:gd name="adj" fmla="val 625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25031" y="2212848"/>
            <a:ext cx="457200" cy="457200"/>
          </a:xfrm>
          <a:prstGeom prst="roundRect">
            <a:avLst>
              <a:gd name="adj" fmla="val 28000"/>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image.png"/>
          <p:cNvPicPr>
            <a:picLocks noChangeAspect="1"/>
          </p:cNvPicPr>
          <p:nvPr/>
        </p:nvPicPr>
        <p:blipFill>
          <a:blip r:embed="rId5"/>
          <a:stretch>
            <a:fillRect/>
          </a:stretch>
        </p:blipFill>
        <p:spPr>
          <a:xfrm>
            <a:off x="6516471" y="2304288"/>
            <a:ext cx="274320" cy="274320"/>
          </a:xfrm>
          <a:prstGeom prst="rect">
            <a:avLst/>
          </a:prstGeom>
        </p:spPr>
      </p:pic>
      <p:sp>
        <p:nvSpPr>
          <p:cNvPr id="17" name="TextBox 16"/>
          <p:cNvSpPr txBox="1"/>
          <p:nvPr/>
        </p:nvSpPr>
        <p:spPr>
          <a:xfrm>
            <a:off x="7065111" y="2212848"/>
            <a:ext cx="4413351" cy="457200"/>
          </a:xfrm>
          <a:prstGeom prst="rect">
            <a:avLst/>
          </a:prstGeom>
          <a:noFill/>
        </p:spPr>
        <p:txBody>
          <a:bodyPr wrap="square" anchor="ctr" lIns="0" rIns="0" tIns="0" bIns="0">
            <a:spAutoFit/>
          </a:bodyPr>
          <a:lstStyle/>
          <a:p>
            <a:pPr algn="l">
              <a:spcAft>
                <a:spcPts val="0"/>
              </a:spcAft>
            </a:pPr>
            <a:r>
              <a:rPr sz="1600" b="1">
                <a:solidFill>
                  <a:srgbClr val="222222"/>
                </a:solidFill>
                <a:latin typeface="Arial"/>
              </a:rPr>
              <a:t>3 parts are not in the part master</a:t>
            </a:r>
          </a:p>
        </p:txBody>
      </p:sp>
      <p:sp>
        <p:nvSpPr>
          <p:cNvPr id="18" name="TextBox 17"/>
          <p:cNvSpPr txBox="1"/>
          <p:nvPr/>
        </p:nvSpPr>
        <p:spPr>
          <a:xfrm>
            <a:off x="7065111" y="2743200"/>
            <a:ext cx="4413351" cy="841247"/>
          </a:xfrm>
          <a:prstGeom prst="rect">
            <a:avLst/>
          </a:prstGeom>
          <a:noFill/>
        </p:spPr>
        <p:txBody>
          <a:bodyPr wrap="square" anchor="t" lIns="0" rIns="0" tIns="0" bIns="0">
            <a:spAutoFit/>
          </a:bodyPr>
          <a:lstStyle/>
          <a:p>
            <a:pPr algn="l">
              <a:spcAft>
                <a:spcPts val="0"/>
              </a:spcAft>
            </a:pPr>
            <a:r>
              <a:rPr sz="1400" b="0">
                <a:solidFill>
                  <a:srgbClr val="222222"/>
                </a:solidFill>
                <a:latin typeface="Arial"/>
              </a:rPr>
              <a:t>SKU901 and SKU902 have 155 pieces on hand, and SKU903 has 60 coming on PO9999. New parts, or typos of known ones?</a:t>
            </a:r>
          </a:p>
        </p:txBody>
      </p:sp>
      <p:sp>
        <p:nvSpPr>
          <p:cNvPr id="19" name="Rounded Rectangle 18"/>
          <p:cNvSpPr/>
          <p:nvPr/>
        </p:nvSpPr>
        <p:spPr>
          <a:xfrm>
            <a:off x="457200" y="3886200"/>
            <a:ext cx="5556351" cy="1755648"/>
          </a:xfrm>
          <a:prstGeom prst="roundRect">
            <a:avLst>
              <a:gd name="adj" fmla="val 625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04088" y="4133087"/>
            <a:ext cx="457200" cy="457200"/>
          </a:xfrm>
          <a:prstGeom prst="roundRect">
            <a:avLst>
              <a:gd name="adj" fmla="val 28000"/>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image.png"/>
          <p:cNvPicPr>
            <a:picLocks noChangeAspect="1"/>
          </p:cNvPicPr>
          <p:nvPr/>
        </p:nvPicPr>
        <p:blipFill>
          <a:blip r:embed="rId6"/>
          <a:stretch>
            <a:fillRect/>
          </a:stretch>
        </p:blipFill>
        <p:spPr>
          <a:xfrm>
            <a:off x="795528" y="4224527"/>
            <a:ext cx="274320" cy="274320"/>
          </a:xfrm>
          <a:prstGeom prst="rect">
            <a:avLst/>
          </a:prstGeom>
        </p:spPr>
      </p:pic>
      <p:sp>
        <p:nvSpPr>
          <p:cNvPr id="22" name="TextBox 21"/>
          <p:cNvSpPr txBox="1"/>
          <p:nvPr/>
        </p:nvSpPr>
        <p:spPr>
          <a:xfrm>
            <a:off x="1344168" y="4133087"/>
            <a:ext cx="4413351" cy="457200"/>
          </a:xfrm>
          <a:prstGeom prst="rect">
            <a:avLst/>
          </a:prstGeom>
          <a:noFill/>
        </p:spPr>
        <p:txBody>
          <a:bodyPr wrap="square" anchor="ctr" lIns="0" rIns="0" tIns="0" bIns="0">
            <a:spAutoFit/>
          </a:bodyPr>
          <a:lstStyle/>
          <a:p>
            <a:pPr algn="l">
              <a:spcAft>
                <a:spcPts val="0"/>
              </a:spcAft>
            </a:pPr>
            <a:r>
              <a:rPr sz="1600" b="1">
                <a:solidFill>
                  <a:srgbClr val="222222"/>
                </a:solidFill>
                <a:latin typeface="Arial"/>
              </a:rPr>
              <a:t>11 pairs of PO lines look alike</a:t>
            </a:r>
          </a:p>
        </p:txBody>
      </p:sp>
      <p:sp>
        <p:nvSpPr>
          <p:cNvPr id="23" name="TextBox 22"/>
          <p:cNvSpPr txBox="1"/>
          <p:nvPr/>
        </p:nvSpPr>
        <p:spPr>
          <a:xfrm>
            <a:off x="1344168" y="4663440"/>
            <a:ext cx="4413351" cy="841247"/>
          </a:xfrm>
          <a:prstGeom prst="rect">
            <a:avLst/>
          </a:prstGeom>
          <a:noFill/>
        </p:spPr>
        <p:txBody>
          <a:bodyPr wrap="square" anchor="t" lIns="0" rIns="0" tIns="0" bIns="0">
            <a:spAutoFit/>
          </a:bodyPr>
          <a:lstStyle/>
          <a:p>
            <a:pPr algn="l">
              <a:spcAft>
                <a:spcPts val="0"/>
              </a:spcAft>
            </a:pPr>
            <a:r>
              <a:rPr sz="1400" b="0">
                <a:solidFill>
                  <a:srgbClr val="222222"/>
                </a:solidFill>
                <a:latin typeface="Arial"/>
              </a:rPr>
              <a:t>Same part, site and quantity on different PO lines. If any are double entries, the supply on the way is overstated. Worth a check with the buyer.</a:t>
            </a:r>
          </a:p>
        </p:txBody>
      </p:sp>
      <p:sp>
        <p:nvSpPr>
          <p:cNvPr id="24" name="Rounded Rectangle 23"/>
          <p:cNvSpPr/>
          <p:nvPr/>
        </p:nvSpPr>
        <p:spPr>
          <a:xfrm>
            <a:off x="6178143" y="3886200"/>
            <a:ext cx="5556351" cy="1755648"/>
          </a:xfrm>
          <a:prstGeom prst="roundRect">
            <a:avLst>
              <a:gd name="adj" fmla="val 625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25031" y="4133087"/>
            <a:ext cx="457200" cy="457200"/>
          </a:xfrm>
          <a:prstGeom prst="roundRect">
            <a:avLst>
              <a:gd name="adj" fmla="val 28000"/>
            </a:avLst>
          </a:prstGeom>
          <a:solidFill>
            <a:srgbClr val="2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7"/>
          <a:stretch>
            <a:fillRect/>
          </a:stretch>
        </p:blipFill>
        <p:spPr>
          <a:xfrm>
            <a:off x="6516471" y="4224527"/>
            <a:ext cx="274320" cy="274320"/>
          </a:xfrm>
          <a:prstGeom prst="rect">
            <a:avLst/>
          </a:prstGeom>
        </p:spPr>
      </p:pic>
      <p:sp>
        <p:nvSpPr>
          <p:cNvPr id="27" name="TextBox 26"/>
          <p:cNvSpPr txBox="1"/>
          <p:nvPr/>
        </p:nvSpPr>
        <p:spPr>
          <a:xfrm>
            <a:off x="7065111" y="4133087"/>
            <a:ext cx="4413351" cy="457200"/>
          </a:xfrm>
          <a:prstGeom prst="rect">
            <a:avLst/>
          </a:prstGeom>
          <a:noFill/>
        </p:spPr>
        <p:txBody>
          <a:bodyPr wrap="square" anchor="ctr" lIns="0" rIns="0" tIns="0" bIns="0">
            <a:spAutoFit/>
          </a:bodyPr>
          <a:lstStyle/>
          <a:p>
            <a:pPr algn="l">
              <a:spcAft>
                <a:spcPts val="0"/>
              </a:spcAft>
            </a:pPr>
            <a:r>
              <a:rPr sz="1600" b="1">
                <a:solidFill>
                  <a:srgbClr val="222222"/>
                </a:solidFill>
                <a:latin typeface="Arial"/>
              </a:rPr>
              <a:t>No costs or lead times in the data</a:t>
            </a:r>
          </a:p>
        </p:txBody>
      </p:sp>
      <p:sp>
        <p:nvSpPr>
          <p:cNvPr id="28" name="TextBox 27"/>
          <p:cNvSpPr txBox="1"/>
          <p:nvPr/>
        </p:nvSpPr>
        <p:spPr>
          <a:xfrm>
            <a:off x="7065111" y="4663440"/>
            <a:ext cx="4413351" cy="841247"/>
          </a:xfrm>
          <a:prstGeom prst="rect">
            <a:avLst/>
          </a:prstGeom>
          <a:noFill/>
        </p:spPr>
        <p:txBody>
          <a:bodyPr wrap="square" anchor="t" lIns="0" rIns="0" tIns="0" bIns="0">
            <a:spAutoFit/>
          </a:bodyPr>
          <a:lstStyle/>
          <a:p>
            <a:pPr algn="l">
              <a:spcAft>
                <a:spcPts val="0"/>
              </a:spcAft>
            </a:pPr>
            <a:r>
              <a:rPr sz="1400" b="0">
                <a:solidFill>
                  <a:srgbClr val="222222"/>
                </a:solidFill>
                <a:latin typeface="Arial"/>
              </a:rPr>
              <a:t>So there are no dollar figures, and pallets stand in for cost and space. Unit costs and lead times would size the orders and rank these actions by money.</a:t>
            </a:r>
          </a:p>
        </p:txBody>
      </p:sp>
      <p:sp>
        <p:nvSpPr>
          <p:cNvPr id="29" name="Rounded Rectangle 28"/>
          <p:cNvSpPr/>
          <p:nvPr/>
        </p:nvSpPr>
        <p:spPr>
          <a:xfrm>
            <a:off x="457200" y="5788152"/>
            <a:ext cx="3649370" cy="429768"/>
          </a:xfrm>
          <a:prstGeom prst="roundRect">
            <a:avLst>
              <a:gd name="adj" fmla="val 5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image.png"/>
          <p:cNvPicPr>
            <a:picLocks noChangeAspect="1"/>
          </p:cNvPicPr>
          <p:nvPr/>
        </p:nvPicPr>
        <p:blipFill>
          <a:blip r:embed="rId8"/>
          <a:stretch>
            <a:fillRect/>
          </a:stretch>
        </p:blipFill>
        <p:spPr>
          <a:xfrm>
            <a:off x="640080" y="5888736"/>
            <a:ext cx="228600" cy="228600"/>
          </a:xfrm>
          <a:prstGeom prst="rect">
            <a:avLst/>
          </a:prstGeom>
        </p:spPr>
      </p:pic>
      <p:sp>
        <p:nvSpPr>
          <p:cNvPr id="31" name="TextBox 30"/>
          <p:cNvSpPr txBox="1"/>
          <p:nvPr/>
        </p:nvSpPr>
        <p:spPr>
          <a:xfrm>
            <a:off x="960120" y="5833872"/>
            <a:ext cx="3009290" cy="338328"/>
          </a:xfrm>
          <a:prstGeom prst="rect">
            <a:avLst/>
          </a:prstGeom>
          <a:noFill/>
        </p:spPr>
        <p:txBody>
          <a:bodyPr wrap="square" anchor="ctr" lIns="0" rIns="0" tIns="0" bIns="0">
            <a:spAutoFit/>
          </a:bodyPr>
          <a:lstStyle/>
          <a:p>
            <a:pPr algn="l">
              <a:spcAft>
                <a:spcPts val="0"/>
              </a:spcAft>
            </a:pPr>
            <a:r>
              <a:rPr sz="1200" b="0">
                <a:solidFill>
                  <a:srgbClr val="222222"/>
                </a:solidFill>
                <a:latin typeface="Arial"/>
              </a:rPr>
              <a:t>Workbook: inventory_health_check.xlsx</a:t>
            </a:r>
          </a:p>
        </p:txBody>
      </p:sp>
      <p:sp>
        <p:nvSpPr>
          <p:cNvPr id="32" name="Rounded Rectangle 31">
            <a:hlinkClick r:id="rId9"/>
          </p:cNvPr>
          <p:cNvSpPr/>
          <p:nvPr/>
        </p:nvSpPr>
        <p:spPr>
          <a:xfrm>
            <a:off x="4271162" y="5788152"/>
            <a:ext cx="3649370" cy="429768"/>
          </a:xfrm>
          <a:prstGeom prst="roundRect">
            <a:avLst>
              <a:gd name="adj" fmla="val 5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image.png"/>
          <p:cNvPicPr>
            <a:picLocks noChangeAspect="1"/>
          </p:cNvPicPr>
          <p:nvPr/>
        </p:nvPicPr>
        <p:blipFill>
          <a:blip r:embed="rId10"/>
          <a:stretch>
            <a:fillRect/>
          </a:stretch>
        </p:blipFill>
        <p:spPr>
          <a:xfrm>
            <a:off x="4454042" y="5888736"/>
            <a:ext cx="228600" cy="228600"/>
          </a:xfrm>
          <a:prstGeom prst="rect">
            <a:avLst/>
          </a:prstGeom>
        </p:spPr>
      </p:pic>
      <p:sp>
        <p:nvSpPr>
          <p:cNvPr id="34" name="TextBox 33"/>
          <p:cNvSpPr txBox="1"/>
          <p:nvPr/>
        </p:nvSpPr>
        <p:spPr>
          <a:xfrm>
            <a:off x="4774082" y="5833872"/>
            <a:ext cx="3009290" cy="338328"/>
          </a:xfrm>
          <a:prstGeom prst="rect">
            <a:avLst/>
          </a:prstGeom>
          <a:noFill/>
        </p:spPr>
        <p:txBody>
          <a:bodyPr wrap="square" anchor="ctr" lIns="0" rIns="0" tIns="0" bIns="0">
            <a:spAutoFit/>
          </a:bodyPr>
          <a:lstStyle/>
          <a:p>
            <a:pPr algn="l">
              <a:spcAft>
                <a:spcPts val="0"/>
              </a:spcAft>
            </a:pPr>
            <a:r>
              <a:rPr sz="1200" b="0">
                <a:solidFill>
                  <a:srgbClr val="222222"/>
                </a:solidFill>
                <a:latin typeface="Arial"/>
              </a:rPr>
              <a:t>Live app: dashboard and planning agent</a:t>
            </a:r>
          </a:p>
        </p:txBody>
      </p:sp>
      <p:sp>
        <p:nvSpPr>
          <p:cNvPr id="35" name="Rounded Rectangle 34">
            <a:hlinkClick r:id="rId11"/>
          </p:cNvPr>
          <p:cNvSpPr/>
          <p:nvPr/>
        </p:nvSpPr>
        <p:spPr>
          <a:xfrm>
            <a:off x="8085124" y="5788152"/>
            <a:ext cx="3649370" cy="429768"/>
          </a:xfrm>
          <a:prstGeom prst="roundRect">
            <a:avLst>
              <a:gd name="adj" fmla="val 50000"/>
            </a:avLst>
          </a:prstGeom>
          <a:solidFill>
            <a:srgbClr val="FFFFFF"/>
          </a:solidFill>
          <a:ln w="9525">
            <a:solidFill>
              <a:srgbClr val="E0E0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12"/>
          <a:stretch>
            <a:fillRect/>
          </a:stretch>
        </p:blipFill>
        <p:spPr>
          <a:xfrm>
            <a:off x="8268004" y="5888736"/>
            <a:ext cx="228600" cy="228600"/>
          </a:xfrm>
          <a:prstGeom prst="rect">
            <a:avLst/>
          </a:prstGeom>
        </p:spPr>
      </p:pic>
      <p:sp>
        <p:nvSpPr>
          <p:cNvPr id="37" name="TextBox 36"/>
          <p:cNvSpPr txBox="1"/>
          <p:nvPr/>
        </p:nvSpPr>
        <p:spPr>
          <a:xfrm>
            <a:off x="8588044" y="5833872"/>
            <a:ext cx="3009290" cy="338328"/>
          </a:xfrm>
          <a:prstGeom prst="rect">
            <a:avLst/>
          </a:prstGeom>
          <a:noFill/>
        </p:spPr>
        <p:txBody>
          <a:bodyPr wrap="square" anchor="ctr" lIns="0" rIns="0" tIns="0" bIns="0">
            <a:spAutoFit/>
          </a:bodyPr>
          <a:lstStyle/>
          <a:p>
            <a:pPr algn="l">
              <a:spcAft>
                <a:spcPts val="0"/>
              </a:spcAft>
            </a:pPr>
            <a:r>
              <a:rPr sz="1200" b="0">
                <a:solidFill>
                  <a:srgbClr val="222222"/>
                </a:solidFill>
                <a:latin typeface="Arial"/>
              </a:rPr>
              <a:t>Code and assumptions on GitHub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Service parts inventory health check</dc:title>
  <dc:subject/>
  <dc:creator>Mobin Zarreh</dc:creator>
  <cp:keywords/>
  <dc:description/>
  <cp:lastModifiedBy>Mobin Zarreh</cp:lastModifiedBy>
  <cp:revision>1</cp:revision>
  <dcterms:created xsi:type="dcterms:W3CDTF">2026-10-30T19:08:32Z</dcterms:created>
  <dcterms:modified xsi:type="dcterms:W3CDTF">2026-10-30T19:08:32Z</dcterms:modified>
  <cp:category/>
</cp:coreProperties>
</file>